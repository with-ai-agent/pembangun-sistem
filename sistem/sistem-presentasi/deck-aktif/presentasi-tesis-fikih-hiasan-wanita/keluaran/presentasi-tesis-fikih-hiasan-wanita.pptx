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Pembuka. Pembimbing/universitas kosong - jangan dikarang.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ملخص hal 6 diperpanjang sesuai isi tesis.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أهداف hal 21 (pemilik menyebut ص٢٠).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فوائد hal 21.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مشكلات hal 21.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منهج hal 23 diperpanjang.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أسئلة dari Bab 4, HANYA soal tanpa jawaban, digabung satu slide. Q1 verbatim ص٩٠; Q3 verbatim ص١٤٦; Q2 direkonstruksi dari tujuan (heading Bab 4 ~ص١٤٢ belum terbaca verbatim) - tunggu tinjauan pemilik.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العلة hal 66-67.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جنس ونوع hal 88 diperpanjang.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جمع hal 89 diperpanjang.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معالجة hal 89 diperpanjang.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تحقق hal 89 diperpanjang.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خاتمة hal 151 (pemilik menyebut ص١٥٢).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توصيات hal 152 (pemilik menyebut ص١٥٣).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ola-geometris.png"/>
          <p:cNvPicPr>
            <a:picLocks noChangeAspect="1"/>
          </p:cNvPicPr>
          <p:nvPr/>
        </p:nvPicPr>
        <p:blipFill>
          <a:blip r:embed="rId2"/>
          <a:srcRect r="89581"/>
          <a:stretch>
            <a:fillRect/>
          </a:stretch>
        </p:blipFill>
        <p:spPr>
          <a:xfrm>
            <a:off x="10911535" y="0"/>
            <a:ext cx="128016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856671" y="0"/>
            <a:ext cx="54864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C9A227"/>
                </a:solidFill>
                <a:latin typeface="Amiri"/>
                <a:ea typeface="Amiri"/>
                <a:cs typeface="Amiri"/>
              </a:rPr>
              <a:t>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2735" y="6400800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926561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0000"/>
              </a:lnSpc>
              <a:spcAft>
                <a:spcPts val="2000"/>
              </a:spcAft>
            </a:pPr>
            <a:r>
              <a:rPr sz="3800" b="1">
                <a:solidFill>
                  <a:srgbClr val="0F3D2E"/>
                </a:solidFill>
                <a:latin typeface="Amiri"/>
                <a:ea typeface="Amiri"/>
                <a:cs typeface="Amiri"/>
              </a:rPr>
              <a:t>أحكام النوازل الفقهية المعاصرة المتعلقة بزينة المرأة في المذاهب الأربعة</a:t>
            </a:r>
          </a:p>
          <a:p>
            <a:pPr algn="r" rtl="1">
              <a:lnSpc>
                <a:spcPct val="115000"/>
              </a:lnSpc>
              <a:spcAft>
                <a:spcPts val="1000"/>
              </a:spcAft>
            </a:pPr>
            <a:r>
              <a:rPr sz="2600" b="0">
                <a:solidFill>
                  <a:srgbClr val="222222"/>
                </a:solidFill>
                <a:latin typeface="Amiri"/>
                <a:ea typeface="Amiri"/>
                <a:cs typeface="Amiri"/>
              </a:rPr>
              <a:t>إعداد: الشيخ علي بلعيدي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554480"/>
            <a:ext cx="9448495" cy="3108960"/>
          </a:xfrm>
          <a:prstGeom prst="roundRect">
            <a:avLst>
              <a:gd name="adj" fmla="val 4000"/>
            </a:avLst>
          </a:prstGeom>
          <a:noFill/>
          <a:ln w="254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ola-geometris.png"/>
          <p:cNvPicPr>
            <a:picLocks noChangeAspect="1"/>
          </p:cNvPicPr>
          <p:nvPr/>
        </p:nvPicPr>
        <p:blipFill>
          <a:blip r:embed="rId2"/>
          <a:srcRect r="93302"/>
          <a:stretch>
            <a:fillRect/>
          </a:stretch>
        </p:blipFill>
        <p:spPr>
          <a:xfrm>
            <a:off x="11368735" y="0"/>
            <a:ext cx="82296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313871" y="0"/>
            <a:ext cx="54864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C9A227"/>
                </a:solidFill>
                <a:latin typeface="Amiri"/>
                <a:ea typeface="Amiri"/>
                <a:cs typeface="Amiri"/>
              </a:rPr>
              <a:t>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2735" y="6400800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C9A227"/>
                </a:solidFill>
                <a:latin typeface="Amiri"/>
                <a:ea typeface="Amiri"/>
                <a:cs typeface="Amiri"/>
              </a:rPr>
              <a:t>ص٦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1480"/>
            <a:ext cx="101800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0F3D2E"/>
                </a:solidFill>
                <a:latin typeface="Amiri"/>
                <a:ea typeface="Amiri"/>
                <a:cs typeface="Amiri"/>
              </a:rPr>
              <a:t>ملخص البحث: أحكام زينة المرأة المعاصرة في المذاهب الأربعة</a:t>
            </a:r>
          </a:p>
        </p:txBody>
      </p:sp>
      <p:sp>
        <p:nvSpPr>
          <p:cNvPr id="8" name="Rectangle 7"/>
          <p:cNvSpPr/>
          <p:nvPr/>
        </p:nvSpPr>
        <p:spPr>
          <a:xfrm>
            <a:off x="5461711" y="1645920"/>
            <a:ext cx="585216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10088575" cy="4206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1900" b="0">
                <a:solidFill>
                  <a:srgbClr val="222222"/>
                </a:solidFill>
                <a:latin typeface="Amiri"/>
                <a:ea typeface="Amiri"/>
                <a:cs typeface="Amiri"/>
              </a:rPr>
              <a:t>يتناول البحث النوازل المتعلقة بزينة المرأة: التشقير، الأظافر، الحواجب، عدسات العين، النمص، الوشم، الوصل، الباروكة، العمليات الجراحية، مساحيق الوجه وغيرها</a:t>
            </a:r>
          </a:p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1900" b="0">
                <a:solidFill>
                  <a:srgbClr val="222222"/>
                </a:solidFill>
                <a:latin typeface="Amiri"/>
                <a:ea typeface="Amiri"/>
                <a:cs typeface="Amiri"/>
              </a:rPr>
              <a:t>المنهج: وصفي مقارن، استقرائي، استنباطي</a:t>
            </a:r>
          </a:p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1900" b="0">
                <a:solidFill>
                  <a:srgbClr val="222222"/>
                </a:solidFill>
                <a:latin typeface="Amiri"/>
                <a:ea typeface="Amiri"/>
                <a:cs typeface="Amiri"/>
              </a:rPr>
              <a:t>الأصل التحريم عند تغيير خلق الله أو التغرير أو التدليس أو الضرر، أو نص الشارع</a:t>
            </a:r>
          </a:p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1900" b="0">
                <a:solidFill>
                  <a:srgbClr val="222222"/>
                </a:solidFill>
                <a:latin typeface="Amiri"/>
                <a:ea typeface="Amiri"/>
                <a:cs typeface="Amiri"/>
              </a:rPr>
              <a:t>التشقير إن لم يزل الشعر فليس كالنمص؛ والوشم والعدسات والأظافر تجوز للحاجة لا للتغرير</a:t>
            </a:r>
          </a:p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1900" b="0">
                <a:solidFill>
                  <a:srgbClr val="222222"/>
                </a:solidFill>
                <a:latin typeface="Amiri"/>
                <a:ea typeface="Amiri"/>
                <a:cs typeface="Amiri"/>
              </a:rPr>
              <a:t>الوصل ليس منه إن كان لحاجة ويحرم للتغرير؛ وتحمير الوجه يحرم على الخلية عند الشافعية</a:t>
            </a:r>
          </a:p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1900" b="0">
                <a:solidFill>
                  <a:srgbClr val="222222"/>
                </a:solidFill>
                <a:latin typeface="Amiri"/>
                <a:ea typeface="Amiri"/>
                <a:cs typeface="Amiri"/>
              </a:rPr>
              <a:t>العمليات تجوز للحاجة دون تغيير الخلق؛ وللزينة أثر في خيار النكاح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ola-geometris.png"/>
          <p:cNvPicPr>
            <a:picLocks noChangeAspect="1"/>
          </p:cNvPicPr>
          <p:nvPr/>
        </p:nvPicPr>
        <p:blipFill>
          <a:blip r:embed="rId2"/>
          <a:srcRect r="93302"/>
          <a:stretch>
            <a:fillRect/>
          </a:stretch>
        </p:blipFill>
        <p:spPr>
          <a:xfrm>
            <a:off x="11368735" y="0"/>
            <a:ext cx="82296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313871" y="0"/>
            <a:ext cx="54864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C9A227"/>
                </a:solidFill>
                <a:latin typeface="Amiri"/>
                <a:ea typeface="Amiri"/>
                <a:cs typeface="Amiri"/>
              </a:rPr>
              <a:t>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2735" y="6400800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C9A227"/>
                </a:solidFill>
                <a:latin typeface="Amiri"/>
                <a:ea typeface="Amiri"/>
                <a:cs typeface="Amiri"/>
              </a:rPr>
              <a:t>ص٢١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1480"/>
            <a:ext cx="101800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0F3D2E"/>
                </a:solidFill>
                <a:latin typeface="Amiri"/>
                <a:ea typeface="Amiri"/>
                <a:cs typeface="Amiri"/>
              </a:rPr>
              <a:t>أهداف البحث</a:t>
            </a:r>
          </a:p>
        </p:txBody>
      </p:sp>
      <p:sp>
        <p:nvSpPr>
          <p:cNvPr id="8" name="Rectangle 7"/>
          <p:cNvSpPr/>
          <p:nvPr/>
        </p:nvSpPr>
        <p:spPr>
          <a:xfrm>
            <a:off x="5461711" y="1645920"/>
            <a:ext cx="585216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10088575" cy="4206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Amiri"/>
                <a:ea typeface="Amiri"/>
                <a:cs typeface="Amiri"/>
              </a:rPr>
              <a:t>بيان حكم أدوات التجميل المعاصرة للمرأة في المذاهب الأربعة</a:t>
            </a:r>
          </a:p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Amiri"/>
                <a:ea typeface="Amiri"/>
                <a:cs typeface="Amiri"/>
              </a:rPr>
              <a:t>معرفة حكم عمليات التجميل في المذاهب المعتمدة</a:t>
            </a:r>
          </a:p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Amiri"/>
                <a:ea typeface="Amiri"/>
                <a:cs typeface="Amiri"/>
              </a:rPr>
              <a:t>معرفة حكم بيع أدوات التجميل في المذاهب الأربعة</a:t>
            </a:r>
          </a:p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Amiri"/>
                <a:ea typeface="Amiri"/>
                <a:cs typeface="Amiri"/>
              </a:rPr>
              <a:t>بيان الأثر المترتب على الزينة في عقد النكاح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ola-geometris.png"/>
          <p:cNvPicPr>
            <a:picLocks noChangeAspect="1"/>
          </p:cNvPicPr>
          <p:nvPr/>
        </p:nvPicPr>
        <p:blipFill>
          <a:blip r:embed="rId2"/>
          <a:srcRect r="93302"/>
          <a:stretch>
            <a:fillRect/>
          </a:stretch>
        </p:blipFill>
        <p:spPr>
          <a:xfrm>
            <a:off x="11368735" y="0"/>
            <a:ext cx="82296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313871" y="0"/>
            <a:ext cx="54864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C9A227"/>
                </a:solidFill>
                <a:latin typeface="Amiri"/>
                <a:ea typeface="Amiri"/>
                <a:cs typeface="Amiri"/>
              </a:rPr>
              <a:t>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2735" y="6400800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C9A227"/>
                </a:solidFill>
                <a:latin typeface="Amiri"/>
                <a:ea typeface="Amiri"/>
                <a:cs typeface="Amiri"/>
              </a:rPr>
              <a:t>ص٢١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1480"/>
            <a:ext cx="101800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0F3D2E"/>
                </a:solidFill>
                <a:latin typeface="Amiri"/>
                <a:ea typeface="Amiri"/>
                <a:cs typeface="Amiri"/>
              </a:rPr>
              <a:t>فوائد البحث</a:t>
            </a:r>
          </a:p>
        </p:txBody>
      </p:sp>
      <p:sp>
        <p:nvSpPr>
          <p:cNvPr id="8" name="Rectangle 7"/>
          <p:cNvSpPr/>
          <p:nvPr/>
        </p:nvSpPr>
        <p:spPr>
          <a:xfrm>
            <a:off x="5461711" y="1645920"/>
            <a:ext cx="585216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10088575" cy="4206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2200" b="0">
                <a:solidFill>
                  <a:srgbClr val="222222"/>
                </a:solidFill>
                <a:latin typeface="Amiri"/>
                <a:ea typeface="Amiri"/>
                <a:cs typeface="Amiri"/>
              </a:rPr>
              <a:t>معرفة أحكام الزينة المعاصرة في المذاهب الأربعة</a:t>
            </a:r>
          </a:p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2200" b="0">
                <a:solidFill>
                  <a:srgbClr val="222222"/>
                </a:solidFill>
                <a:latin typeface="Amiri"/>
                <a:ea typeface="Amiri"/>
                <a:cs typeface="Amiri"/>
              </a:rPr>
              <a:t>بيان أحكام النوازل المتعلقة بزينة المرأة</a:t>
            </a:r>
          </a:p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2200" b="0">
                <a:solidFill>
                  <a:srgbClr val="222222"/>
                </a:solidFill>
                <a:latin typeface="Amiri"/>
                <a:ea typeface="Amiri"/>
                <a:cs typeface="Amiri"/>
              </a:rPr>
              <a:t>معرفة حكم عمليات التجميل للمرأة</a:t>
            </a:r>
          </a:p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2200" b="0">
                <a:solidFill>
                  <a:srgbClr val="222222"/>
                </a:solidFill>
                <a:latin typeface="Amiri"/>
                <a:ea typeface="Amiri"/>
                <a:cs typeface="Amiri"/>
              </a:rPr>
              <a:t>معرفة حكم بيع أدوات التجميل الممنوعة</a:t>
            </a:r>
          </a:p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2200" b="0">
                <a:solidFill>
                  <a:srgbClr val="222222"/>
                </a:solidFill>
                <a:latin typeface="Amiri"/>
                <a:ea typeface="Amiri"/>
                <a:cs typeface="Amiri"/>
              </a:rPr>
              <a:t>إدراك أثر الزينة على عقد النكاح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ola-geometris.png"/>
          <p:cNvPicPr>
            <a:picLocks noChangeAspect="1"/>
          </p:cNvPicPr>
          <p:nvPr/>
        </p:nvPicPr>
        <p:blipFill>
          <a:blip r:embed="rId2"/>
          <a:srcRect r="93302"/>
          <a:stretch>
            <a:fillRect/>
          </a:stretch>
        </p:blipFill>
        <p:spPr>
          <a:xfrm>
            <a:off x="11368735" y="0"/>
            <a:ext cx="82296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313871" y="0"/>
            <a:ext cx="54864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C9A227"/>
                </a:solidFill>
                <a:latin typeface="Amiri"/>
                <a:ea typeface="Amiri"/>
                <a:cs typeface="Amiri"/>
              </a:rPr>
              <a:t>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2735" y="6400800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C9A227"/>
                </a:solidFill>
                <a:latin typeface="Amiri"/>
                <a:ea typeface="Amiri"/>
                <a:cs typeface="Amiri"/>
              </a:rPr>
              <a:t>ص٢١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1480"/>
            <a:ext cx="101800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0F3D2E"/>
                </a:solidFill>
                <a:latin typeface="Amiri"/>
                <a:ea typeface="Amiri"/>
                <a:cs typeface="Amiri"/>
              </a:rPr>
              <a:t>مشكلات البحث</a:t>
            </a:r>
          </a:p>
        </p:txBody>
      </p:sp>
      <p:sp>
        <p:nvSpPr>
          <p:cNvPr id="8" name="Rectangle 7"/>
          <p:cNvSpPr/>
          <p:nvPr/>
        </p:nvSpPr>
        <p:spPr>
          <a:xfrm>
            <a:off x="5461711" y="1645920"/>
            <a:ext cx="585216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10088575" cy="4206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2200" b="0">
                <a:solidFill>
                  <a:srgbClr val="222222"/>
                </a:solidFill>
                <a:latin typeface="Amiri"/>
                <a:ea typeface="Amiri"/>
                <a:cs typeface="Amiri"/>
              </a:rPr>
              <a:t>نوازل معاصرة لم يفصلها الفقهاء قديما</a:t>
            </a:r>
          </a:p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2200" b="0">
                <a:solidFill>
                  <a:srgbClr val="222222"/>
                </a:solidFill>
                <a:latin typeface="Amiri"/>
                <a:ea typeface="Amiri"/>
                <a:cs typeface="Amiri"/>
              </a:rPr>
              <a:t>صعوبة حصر وسائل الزينة لاختلاط العادات</a:t>
            </a:r>
          </a:p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2200" b="0">
                <a:solidFill>
                  <a:srgbClr val="222222"/>
                </a:solidFill>
                <a:latin typeface="Amiri"/>
                <a:ea typeface="Amiri"/>
                <a:cs typeface="Amiri"/>
              </a:rPr>
              <a:t>اختلاف الأزمنة يستدعي نظر القواعد والضوابط</a:t>
            </a:r>
          </a:p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2200" b="0">
                <a:solidFill>
                  <a:srgbClr val="222222"/>
                </a:solidFill>
                <a:latin typeface="Amiri"/>
                <a:ea typeface="Amiri"/>
                <a:cs typeface="Amiri"/>
              </a:rPr>
              <a:t>ورود أدوات من الغرب دون نظر شرعي</a:t>
            </a:r>
          </a:p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2200" b="0">
                <a:solidFill>
                  <a:srgbClr val="222222"/>
                </a:solidFill>
                <a:latin typeface="Amiri"/>
                <a:ea typeface="Amiri"/>
                <a:cs typeface="Amiri"/>
              </a:rPr>
              <a:t>اختلاف التكييف الفقهي لوسائل الزينة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ola-geometris.png"/>
          <p:cNvPicPr>
            <a:picLocks noChangeAspect="1"/>
          </p:cNvPicPr>
          <p:nvPr/>
        </p:nvPicPr>
        <p:blipFill>
          <a:blip r:embed="rId2"/>
          <a:srcRect r="93302"/>
          <a:stretch>
            <a:fillRect/>
          </a:stretch>
        </p:blipFill>
        <p:spPr>
          <a:xfrm>
            <a:off x="11368735" y="0"/>
            <a:ext cx="82296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313871" y="0"/>
            <a:ext cx="54864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C9A227"/>
                </a:solidFill>
                <a:latin typeface="Amiri"/>
                <a:ea typeface="Amiri"/>
                <a:cs typeface="Amiri"/>
              </a:rPr>
              <a:t>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2735" y="6400800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C9A227"/>
                </a:solidFill>
                <a:latin typeface="Amiri"/>
                <a:ea typeface="Amiri"/>
                <a:cs typeface="Amiri"/>
              </a:rPr>
              <a:t>ص٢٣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1480"/>
            <a:ext cx="101800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0F3D2E"/>
                </a:solidFill>
                <a:latin typeface="Amiri"/>
                <a:ea typeface="Amiri"/>
                <a:cs typeface="Amiri"/>
              </a:rPr>
              <a:t>منهج البحث</a:t>
            </a:r>
          </a:p>
        </p:txBody>
      </p:sp>
      <p:sp>
        <p:nvSpPr>
          <p:cNvPr id="8" name="Rectangle 7"/>
          <p:cNvSpPr/>
          <p:nvPr/>
        </p:nvSpPr>
        <p:spPr>
          <a:xfrm>
            <a:off x="5461711" y="1645920"/>
            <a:ext cx="585216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10088575" cy="4206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2000" b="0">
                <a:solidFill>
                  <a:srgbClr val="222222"/>
                </a:solidFill>
                <a:latin typeface="Amiri"/>
                <a:ea typeface="Amiri"/>
                <a:cs typeface="Amiri"/>
              </a:rPr>
              <a:t>وصفي مقارن: تتبع آراء الفقهاء في المذاهب الأربعة من كتبهم المعتمدة، مع الرجوع للمؤلفات الحديثة وكلام المعاصرين؛ فيصف النوازل ويشخصها ويقيسها على المنصوص لاستخراج حكمها</a:t>
            </a:r>
          </a:p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2000" b="0">
                <a:solidFill>
                  <a:srgbClr val="222222"/>
                </a:solidFill>
                <a:latin typeface="Amiri"/>
                <a:ea typeface="Amiri"/>
                <a:cs typeface="Amiri"/>
              </a:rPr>
              <a:t>استقرائي: استقراء أحكام زينة المرأة الفقهية والطبية من كتب المذاهب القديمة والحديثة</a:t>
            </a:r>
          </a:p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2000" b="0">
                <a:solidFill>
                  <a:srgbClr val="222222"/>
                </a:solidFill>
                <a:latin typeface="Amiri"/>
                <a:ea typeface="Amiri"/>
                <a:cs typeface="Amiri"/>
              </a:rPr>
              <a:t>استنباطي: استنباط الأحكام المتعلقة بزينة المرأة في المذاهب الأربعة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ola-geometris.png"/>
          <p:cNvPicPr>
            <a:picLocks noChangeAspect="1"/>
          </p:cNvPicPr>
          <p:nvPr/>
        </p:nvPicPr>
        <p:blipFill>
          <a:blip r:embed="rId2"/>
          <a:srcRect r="93302"/>
          <a:stretch>
            <a:fillRect/>
          </a:stretch>
        </p:blipFill>
        <p:spPr>
          <a:xfrm>
            <a:off x="11368735" y="0"/>
            <a:ext cx="82296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313871" y="0"/>
            <a:ext cx="54864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C9A227"/>
                </a:solidFill>
                <a:latin typeface="Amiri"/>
                <a:ea typeface="Amiri"/>
                <a:cs typeface="Amiri"/>
              </a:rPr>
              <a:t>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2735" y="6400800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C9A227"/>
                </a:solidFill>
                <a:latin typeface="Amiri"/>
                <a:ea typeface="Amiri"/>
                <a:cs typeface="Amiri"/>
              </a:rPr>
              <a:t>ص٩٠·١٤٦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1480"/>
            <a:ext cx="101800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0F3D2E"/>
                </a:solidFill>
                <a:latin typeface="Amiri"/>
                <a:ea typeface="Amiri"/>
                <a:cs typeface="Amiri"/>
              </a:rPr>
              <a:t>أسئلة البحث</a:t>
            </a:r>
          </a:p>
        </p:txBody>
      </p:sp>
      <p:sp>
        <p:nvSpPr>
          <p:cNvPr id="8" name="Rectangle 7"/>
          <p:cNvSpPr/>
          <p:nvPr/>
        </p:nvSpPr>
        <p:spPr>
          <a:xfrm>
            <a:off x="5461711" y="1645920"/>
            <a:ext cx="585216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10088575" cy="4206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2200" b="0">
                <a:solidFill>
                  <a:srgbClr val="222222"/>
                </a:solidFill>
                <a:latin typeface="Amiri"/>
                <a:ea typeface="Amiri"/>
                <a:cs typeface="Amiri"/>
              </a:rPr>
              <a:t>السؤال الأول: ما حكم استعمال أدوات التجميل المعاصرة للمرأة في المذاهب الأربعة؟</a:t>
            </a:r>
          </a:p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2200" b="0">
                <a:solidFill>
                  <a:srgbClr val="222222"/>
                </a:solidFill>
                <a:latin typeface="Amiri"/>
                <a:ea typeface="Amiri"/>
                <a:cs typeface="Amiri"/>
              </a:rPr>
              <a:t>السؤال الثاني: ما حكم عمليات التجميل للمرأة في المذاهب الأربعة؟</a:t>
            </a:r>
          </a:p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2200" b="0">
                <a:solidFill>
                  <a:srgbClr val="222222"/>
                </a:solidFill>
                <a:latin typeface="Amiri"/>
                <a:ea typeface="Amiri"/>
                <a:cs typeface="Amiri"/>
              </a:rPr>
              <a:t>السؤال الثالث: ما حكم التعامل مع المرأة في زينتها بيعا وتجميلا وطبا في المذاهب الأربعة؟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ola-geometris.png"/>
          <p:cNvPicPr>
            <a:picLocks noChangeAspect="1"/>
          </p:cNvPicPr>
          <p:nvPr/>
        </p:nvPicPr>
        <p:blipFill>
          <a:blip r:embed="rId2"/>
          <a:srcRect r="93302"/>
          <a:stretch>
            <a:fillRect/>
          </a:stretch>
        </p:blipFill>
        <p:spPr>
          <a:xfrm>
            <a:off x="11368735" y="0"/>
            <a:ext cx="82296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313871" y="0"/>
            <a:ext cx="54864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C9A227"/>
                </a:solidFill>
                <a:latin typeface="Amiri"/>
                <a:ea typeface="Amiri"/>
                <a:cs typeface="Amiri"/>
              </a:rPr>
              <a:t>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2735" y="6400800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C9A227"/>
                </a:solidFill>
                <a:latin typeface="Amiri"/>
                <a:ea typeface="Amiri"/>
                <a:cs typeface="Amiri"/>
              </a:rPr>
              <a:t>ص٦٦–٦٧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1480"/>
            <a:ext cx="101800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0F3D2E"/>
                </a:solidFill>
                <a:latin typeface="Amiri"/>
                <a:ea typeface="Amiri"/>
                <a:cs typeface="Amiri"/>
              </a:rPr>
              <a:t>اتفقوا على الجواز بغير شعر الآدمي واختلفوا في العلة، والراجح التدليس</a:t>
            </a:r>
          </a:p>
        </p:txBody>
      </p:sp>
      <p:sp>
        <p:nvSpPr>
          <p:cNvPr id="8" name="Rectangle 7"/>
          <p:cNvSpPr/>
          <p:nvPr/>
        </p:nvSpPr>
        <p:spPr>
          <a:xfrm>
            <a:off x="5461711" y="1645920"/>
            <a:ext cx="585216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005840" y="1920240"/>
          <a:ext cx="9082735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6339535"/>
              </a:tblGrid>
              <a:tr h="655320">
                <a:tc>
                  <a:txBody>
                    <a:bodyPr/>
                    <a:lstStyle/>
                    <a:p>
                      <a:pPr algn="r" rtl="1"/>
                      <a:r>
                        <a:rPr sz="2000" b="1">
                          <a:solidFill>
                            <a:srgbClr val="F7F3E9"/>
                          </a:solidFill>
                          <a:latin typeface="Amiri"/>
                          <a:ea typeface="Amiri"/>
                          <a:cs typeface="Amiri"/>
                        </a:rPr>
                        <a:t>المذهب</a:t>
                      </a:r>
                    </a:p>
                  </a:txBody>
                  <a:tcPr>
                    <a:solidFill>
                      <a:srgbClr val="0F3D2E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2000" b="1">
                          <a:solidFill>
                            <a:srgbClr val="F7F3E9"/>
                          </a:solidFill>
                          <a:latin typeface="Amiri"/>
                          <a:ea typeface="Amiri"/>
                          <a:cs typeface="Amiri"/>
                        </a:rPr>
                        <a:t>العلة في تحريم وصل الشعر</a:t>
                      </a:r>
                    </a:p>
                  </a:txBody>
                  <a:tcPr>
                    <a:solidFill>
                      <a:srgbClr val="0F3D2E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r" rtl="1"/>
                      <a:r>
                        <a:rPr sz="1800" b="0">
                          <a:latin typeface="Amiri"/>
                          <a:ea typeface="Amiri"/>
                          <a:cs typeface="Amiri"/>
                        </a:rPr>
                        <a:t>الحنفية</a:t>
                      </a:r>
                    </a:p>
                  </a:txBody>
                  <a:tcPr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800" b="0">
                          <a:latin typeface="Amiri"/>
                          <a:ea typeface="Amiri"/>
                          <a:cs typeface="Amiri"/>
                        </a:rPr>
                        <a:t>كرامة الإنسان وتحريم الابتذال</a:t>
                      </a:r>
                    </a:p>
                  </a:txBody>
                  <a:tcPr>
                    <a:solidFill>
                      <a:srgbClr val="F7F3E9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r" rtl="1"/>
                      <a:r>
                        <a:rPr sz="1800" b="0">
                          <a:latin typeface="Amiri"/>
                          <a:ea typeface="Amiri"/>
                          <a:cs typeface="Amiri"/>
                        </a:rPr>
                        <a:t>المالكية</a:t>
                      </a:r>
                    </a:p>
                  </a:txBody>
                  <a:tcPr>
                    <a:solidFill>
                      <a:srgbClr val="ECE6D6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800" b="0">
                          <a:latin typeface="Amiri"/>
                          <a:ea typeface="Amiri"/>
                          <a:cs typeface="Amiri"/>
                        </a:rPr>
                        <a:t>مركبة: تغيير خلق الله والتدليس</a:t>
                      </a:r>
                    </a:p>
                  </a:txBody>
                  <a:tcPr>
                    <a:solidFill>
                      <a:srgbClr val="ECE6D6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r" rtl="1"/>
                      <a:r>
                        <a:rPr sz="1800" b="0">
                          <a:latin typeface="Amiri"/>
                          <a:ea typeface="Amiri"/>
                          <a:cs typeface="Amiri"/>
                        </a:rPr>
                        <a:t>الشافعية</a:t>
                      </a:r>
                    </a:p>
                  </a:txBody>
                  <a:tcPr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800" b="0">
                          <a:latin typeface="Amiri"/>
                          <a:ea typeface="Amiri"/>
                          <a:cs typeface="Amiri"/>
                        </a:rPr>
                        <a:t>مركبة: الكرامة وتحريم استعمال النجس</a:t>
                      </a:r>
                    </a:p>
                  </a:txBody>
                  <a:tcPr>
                    <a:solidFill>
                      <a:srgbClr val="F7F3E9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r" rtl="1"/>
                      <a:r>
                        <a:rPr sz="1800" b="0">
                          <a:latin typeface="Amiri"/>
                          <a:ea typeface="Amiri"/>
                          <a:cs typeface="Amiri"/>
                        </a:rPr>
                        <a:t>الحنابلة</a:t>
                      </a:r>
                    </a:p>
                  </a:txBody>
                  <a:tcPr>
                    <a:solidFill>
                      <a:srgbClr val="ECE6D6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800" b="0">
                          <a:latin typeface="Amiri"/>
                          <a:ea typeface="Amiri"/>
                          <a:cs typeface="Amiri"/>
                        </a:rPr>
                        <a:t>التدليس والغش</a:t>
                      </a:r>
                    </a:p>
                  </a:txBody>
                  <a:tcPr>
                    <a:solidFill>
                      <a:srgbClr val="ECE6D6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r" rtl="1"/>
                      <a:r>
                        <a:rPr sz="1800" b="0">
                          <a:latin typeface="Amiri"/>
                          <a:ea typeface="Amiri"/>
                          <a:cs typeface="Amiri"/>
                        </a:rPr>
                        <a:t>الراجح</a:t>
                      </a:r>
                    </a:p>
                  </a:txBody>
                  <a:tcPr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800" b="0">
                          <a:latin typeface="Amiri"/>
                          <a:ea typeface="Amiri"/>
                          <a:cs typeface="Amiri"/>
                        </a:rPr>
                        <a:t>الزور والتدليس؛ لحديث المرأة</a:t>
                      </a:r>
                    </a:p>
                  </a:txBody>
                  <a:tcPr>
                    <a:solidFill>
                      <a:srgbClr val="F7F3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ola-geometris.png"/>
          <p:cNvPicPr>
            <a:picLocks noChangeAspect="1"/>
          </p:cNvPicPr>
          <p:nvPr/>
        </p:nvPicPr>
        <p:blipFill>
          <a:blip r:embed="rId2"/>
          <a:srcRect r="93302"/>
          <a:stretch>
            <a:fillRect/>
          </a:stretch>
        </p:blipFill>
        <p:spPr>
          <a:xfrm>
            <a:off x="11368735" y="0"/>
            <a:ext cx="82296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313871" y="0"/>
            <a:ext cx="54864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C9A227"/>
                </a:solidFill>
                <a:latin typeface="Amiri"/>
                <a:ea typeface="Amiri"/>
                <a:cs typeface="Amiri"/>
              </a:rPr>
              <a:t>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2735" y="6400800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C9A227"/>
                </a:solidFill>
                <a:latin typeface="Amiri"/>
                <a:ea typeface="Amiri"/>
                <a:cs typeface="Amiri"/>
              </a:rPr>
              <a:t>ص٨٨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1480"/>
            <a:ext cx="101800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0F3D2E"/>
                </a:solidFill>
                <a:latin typeface="Amiri"/>
                <a:ea typeface="Amiri"/>
                <a:cs typeface="Amiri"/>
              </a:rPr>
              <a:t>جنس البحث ونوعه</a:t>
            </a:r>
          </a:p>
        </p:txBody>
      </p:sp>
      <p:sp>
        <p:nvSpPr>
          <p:cNvPr id="8" name="Rectangle 7"/>
          <p:cNvSpPr/>
          <p:nvPr/>
        </p:nvSpPr>
        <p:spPr>
          <a:xfrm>
            <a:off x="5461711" y="1645920"/>
            <a:ext cx="585216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10088575" cy="4206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2000" b="0">
                <a:solidFill>
                  <a:srgbClr val="222222"/>
                </a:solidFill>
                <a:latin typeface="Amiri"/>
                <a:ea typeface="Amiri"/>
                <a:cs typeface="Amiri"/>
              </a:rPr>
              <a:t>جنس البحث: فقهي مقارن؛ يتتبع آراء الفقهاء ويشخص النوازل ويقيسها على المسائل المنصوص عليها</a:t>
            </a:r>
          </a:p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2000" b="0">
                <a:solidFill>
                  <a:srgbClr val="222222"/>
                </a:solidFill>
                <a:latin typeface="Amiri"/>
                <a:ea typeface="Amiri"/>
                <a:cs typeface="Amiri"/>
              </a:rPr>
              <a:t>نوعه: استقرائي لاستخراج قواعد عامة تساعد على فهم النوازل؛ ثم استنباطي لتنزيل الأحكام على المسائل المعاصرة</a:t>
            </a:r>
          </a:p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2000" b="0">
                <a:solidFill>
                  <a:srgbClr val="222222"/>
                </a:solidFill>
                <a:latin typeface="Amiri"/>
                <a:ea typeface="Amiri"/>
                <a:cs typeface="Amiri"/>
              </a:rPr>
              <a:t>اختيرت المناهج لمناسبتها الموضوع، وللاطلاع على كتب الفقه والحديث والتفسير ومعاجم اللغة والدراسات المعاصرة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ola-geometris.png"/>
          <p:cNvPicPr>
            <a:picLocks noChangeAspect="1"/>
          </p:cNvPicPr>
          <p:nvPr/>
        </p:nvPicPr>
        <p:blipFill>
          <a:blip r:embed="rId2"/>
          <a:srcRect r="93302"/>
          <a:stretch>
            <a:fillRect/>
          </a:stretch>
        </p:blipFill>
        <p:spPr>
          <a:xfrm>
            <a:off x="11368735" y="0"/>
            <a:ext cx="82296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313871" y="0"/>
            <a:ext cx="54864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C9A227"/>
                </a:solidFill>
                <a:latin typeface="Amiri"/>
                <a:ea typeface="Amiri"/>
                <a:cs typeface="Amiri"/>
              </a:rPr>
              <a:t>١٠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2735" y="6400800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C9A227"/>
                </a:solidFill>
                <a:latin typeface="Amiri"/>
                <a:ea typeface="Amiri"/>
                <a:cs typeface="Amiri"/>
              </a:rPr>
              <a:t>ص٨٩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1480"/>
            <a:ext cx="101800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0F3D2E"/>
                </a:solidFill>
                <a:latin typeface="Amiri"/>
                <a:ea typeface="Amiri"/>
                <a:cs typeface="Amiri"/>
              </a:rPr>
              <a:t>طريقة جمع المعلومات</a:t>
            </a:r>
          </a:p>
        </p:txBody>
      </p:sp>
      <p:sp>
        <p:nvSpPr>
          <p:cNvPr id="8" name="Rectangle 7"/>
          <p:cNvSpPr/>
          <p:nvPr/>
        </p:nvSpPr>
        <p:spPr>
          <a:xfrm>
            <a:off x="5461711" y="1645920"/>
            <a:ext cx="585216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10088575" cy="4206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2000" b="0">
                <a:solidFill>
                  <a:srgbClr val="222222"/>
                </a:solidFill>
                <a:latin typeface="Amiri"/>
                <a:ea typeface="Amiri"/>
                <a:cs typeface="Amiri"/>
              </a:rPr>
              <a:t>تتبع آراء الفقهاء في المذاهب الأربعة واستقراؤها والاطلاع على المسائل المتعلقة بالزينة</a:t>
            </a:r>
          </a:p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2000" b="0">
                <a:solidFill>
                  <a:srgbClr val="222222"/>
                </a:solidFill>
                <a:latin typeface="Amiri"/>
                <a:ea typeface="Amiri"/>
                <a:cs typeface="Amiri"/>
              </a:rPr>
              <a:t>تتبع محال ذكرها في أبواب كثيرة: اللباس، النفقات، العيدين، الجمعة، الجنائز، ستر العورة، ووصل الشعر وغيره</a:t>
            </a:r>
          </a:p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2000" b="0">
                <a:solidFill>
                  <a:srgbClr val="222222"/>
                </a:solidFill>
                <a:latin typeface="Amiri"/>
                <a:ea typeface="Amiri"/>
                <a:cs typeface="Amiri"/>
              </a:rPr>
              <a:t>الاطلاع على البحوث والدراسات وكتب الفتاوى، ثم ترتيب المعلومات وإلحاق المسائل المعاصرة بأحكامها، مرجحا قولا على قول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ola-geometris.png"/>
          <p:cNvPicPr>
            <a:picLocks noChangeAspect="1"/>
          </p:cNvPicPr>
          <p:nvPr/>
        </p:nvPicPr>
        <p:blipFill>
          <a:blip r:embed="rId2"/>
          <a:srcRect r="93302"/>
          <a:stretch>
            <a:fillRect/>
          </a:stretch>
        </p:blipFill>
        <p:spPr>
          <a:xfrm>
            <a:off x="11368735" y="0"/>
            <a:ext cx="82296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313871" y="0"/>
            <a:ext cx="54864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C9A227"/>
                </a:solidFill>
                <a:latin typeface="Amiri"/>
                <a:ea typeface="Amiri"/>
                <a:cs typeface="Amiri"/>
              </a:rPr>
              <a:t>١١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2735" y="6400800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C9A227"/>
                </a:solidFill>
                <a:latin typeface="Amiri"/>
                <a:ea typeface="Amiri"/>
                <a:cs typeface="Amiri"/>
              </a:rPr>
              <a:t>ص٨٩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1480"/>
            <a:ext cx="101800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0F3D2E"/>
                </a:solidFill>
                <a:latin typeface="Amiri"/>
                <a:ea typeface="Amiri"/>
                <a:cs typeface="Amiri"/>
              </a:rPr>
              <a:t>معالجة المعلومات</a:t>
            </a:r>
          </a:p>
        </p:txBody>
      </p:sp>
      <p:sp>
        <p:nvSpPr>
          <p:cNvPr id="8" name="Rectangle 7"/>
          <p:cNvSpPr/>
          <p:nvPr/>
        </p:nvSpPr>
        <p:spPr>
          <a:xfrm>
            <a:off x="5461711" y="1645920"/>
            <a:ext cx="585216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10088575" cy="4206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2000" b="0">
                <a:solidFill>
                  <a:srgbClr val="222222"/>
                </a:solidFill>
                <a:latin typeface="Amiri"/>
                <a:ea typeface="Amiri"/>
                <a:cs typeface="Amiri"/>
              </a:rPr>
              <a:t>بعد الاطلاع على كتب الفقه والفتاوى والتفسير والحديث وشروحه ومعاجم اللغة، والمقارنة بين آراء المذاهب</a:t>
            </a:r>
          </a:p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2000" b="0">
                <a:solidFill>
                  <a:srgbClr val="222222"/>
                </a:solidFill>
                <a:latin typeface="Amiri"/>
                <a:ea typeface="Amiri"/>
                <a:cs typeface="Amiri"/>
              </a:rPr>
              <a:t>ذكر الأدلة ومناقشتها مع ترجيح الراجح، وإلحاق المسائل المعاصرة بأصولها المنصوص عليها</a:t>
            </a:r>
          </a:p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2000" b="0">
                <a:solidFill>
                  <a:srgbClr val="222222"/>
                </a:solidFill>
                <a:latin typeface="Amiri"/>
                <a:ea typeface="Amiri"/>
                <a:cs typeface="Amiri"/>
              </a:rPr>
              <a:t>الاعتماد على نصوص الفقهاء في كتبهم المعتمدة: فقهية أو حديثية أو تفسيرية أو فتاوى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ola-geometris.png"/>
          <p:cNvPicPr>
            <a:picLocks noChangeAspect="1"/>
          </p:cNvPicPr>
          <p:nvPr/>
        </p:nvPicPr>
        <p:blipFill>
          <a:blip r:embed="rId2"/>
          <a:srcRect r="93302"/>
          <a:stretch>
            <a:fillRect/>
          </a:stretch>
        </p:blipFill>
        <p:spPr>
          <a:xfrm>
            <a:off x="11368735" y="0"/>
            <a:ext cx="82296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313871" y="0"/>
            <a:ext cx="54864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C9A227"/>
                </a:solidFill>
                <a:latin typeface="Amiri"/>
                <a:ea typeface="Amiri"/>
                <a:cs typeface="Amiri"/>
              </a:rPr>
              <a:t>١٢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2735" y="6400800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C9A227"/>
                </a:solidFill>
                <a:latin typeface="Amiri"/>
                <a:ea typeface="Amiri"/>
                <a:cs typeface="Amiri"/>
              </a:rPr>
              <a:t>ص٨٩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1480"/>
            <a:ext cx="101800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0F3D2E"/>
                </a:solidFill>
                <a:latin typeface="Amiri"/>
                <a:ea typeface="Amiri"/>
                <a:cs typeface="Amiri"/>
              </a:rPr>
              <a:t>التحقق من صحة المعلومات</a:t>
            </a:r>
          </a:p>
        </p:txBody>
      </p:sp>
      <p:sp>
        <p:nvSpPr>
          <p:cNvPr id="8" name="Rectangle 7"/>
          <p:cNvSpPr/>
          <p:nvPr/>
        </p:nvSpPr>
        <p:spPr>
          <a:xfrm>
            <a:off x="5461711" y="1645920"/>
            <a:ext cx="585216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10088575" cy="4206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Amiri"/>
                <a:ea typeface="Amiri"/>
                <a:cs typeface="Amiri"/>
              </a:rPr>
              <a:t>تحقق الباحث من المعلومات المأخوذة بعرضها على عدة كتب ومصادر مختلفة</a:t>
            </a:r>
          </a:p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Amiri"/>
                <a:ea typeface="Amiri"/>
                <a:cs typeface="Amiri"/>
              </a:rPr>
              <a:t>اعتمادها عند التوصل إلى الاتفاق في المعنى وإن اختلفت الألفاظ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ola-geometris.png"/>
          <p:cNvPicPr>
            <a:picLocks noChangeAspect="1"/>
          </p:cNvPicPr>
          <p:nvPr/>
        </p:nvPicPr>
        <p:blipFill>
          <a:blip r:embed="rId2"/>
          <a:srcRect r="93302"/>
          <a:stretch>
            <a:fillRect/>
          </a:stretch>
        </p:blipFill>
        <p:spPr>
          <a:xfrm>
            <a:off x="11368735" y="0"/>
            <a:ext cx="82296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313871" y="0"/>
            <a:ext cx="54864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C9A227"/>
                </a:solidFill>
                <a:latin typeface="Amiri"/>
                <a:ea typeface="Amiri"/>
                <a:cs typeface="Amiri"/>
              </a:rPr>
              <a:t>١٣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2735" y="6400800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C9A227"/>
                </a:solidFill>
                <a:latin typeface="Amiri"/>
                <a:ea typeface="Amiri"/>
                <a:cs typeface="Amiri"/>
              </a:rPr>
              <a:t>ص١٥١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1480"/>
            <a:ext cx="101800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0F3D2E"/>
                </a:solidFill>
                <a:latin typeface="Amiri"/>
                <a:ea typeface="Amiri"/>
                <a:cs typeface="Amiri"/>
              </a:rPr>
              <a:t>الخاتمة</a:t>
            </a:r>
          </a:p>
        </p:txBody>
      </p:sp>
      <p:sp>
        <p:nvSpPr>
          <p:cNvPr id="8" name="Rectangle 7"/>
          <p:cNvSpPr/>
          <p:nvPr/>
        </p:nvSpPr>
        <p:spPr>
          <a:xfrm>
            <a:off x="5461711" y="1645920"/>
            <a:ext cx="585216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10088575" cy="4206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Amiri"/>
                <a:ea typeface="Amiri"/>
                <a:cs typeface="Amiri"/>
              </a:rPr>
              <a:t>الحمد لله على إتمام البحث</a:t>
            </a:r>
          </a:p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Amiri"/>
                <a:ea typeface="Amiri"/>
                <a:cs typeface="Amiri"/>
              </a:rPr>
              <a:t>جهد بشري يقبل الخطأ والصواب</a:t>
            </a:r>
          </a:p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Amiri"/>
                <a:ea typeface="Amiri"/>
                <a:cs typeface="Amiri"/>
              </a:rPr>
              <a:t>نسأل الله القبول والنفع به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ola-geometris.png"/>
          <p:cNvPicPr>
            <a:picLocks noChangeAspect="1"/>
          </p:cNvPicPr>
          <p:nvPr/>
        </p:nvPicPr>
        <p:blipFill>
          <a:blip r:embed="rId2"/>
          <a:srcRect r="93302"/>
          <a:stretch>
            <a:fillRect/>
          </a:stretch>
        </p:blipFill>
        <p:spPr>
          <a:xfrm>
            <a:off x="11368735" y="0"/>
            <a:ext cx="82296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313871" y="0"/>
            <a:ext cx="54864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C9A227"/>
                </a:solidFill>
                <a:latin typeface="Amiri"/>
                <a:ea typeface="Amiri"/>
                <a:cs typeface="Amiri"/>
              </a:rPr>
              <a:t>١٤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2735" y="6400800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C9A227"/>
                </a:solidFill>
                <a:latin typeface="Amiri"/>
                <a:ea typeface="Amiri"/>
                <a:cs typeface="Amiri"/>
              </a:rPr>
              <a:t>ص١٥٢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1480"/>
            <a:ext cx="101800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0F3D2E"/>
                </a:solidFill>
                <a:latin typeface="Amiri"/>
                <a:ea typeface="Amiri"/>
                <a:cs typeface="Amiri"/>
              </a:rPr>
              <a:t>التوصيات</a:t>
            </a:r>
          </a:p>
        </p:txBody>
      </p:sp>
      <p:sp>
        <p:nvSpPr>
          <p:cNvPr id="8" name="Rectangle 7"/>
          <p:cNvSpPr/>
          <p:nvPr/>
        </p:nvSpPr>
        <p:spPr>
          <a:xfrm>
            <a:off x="5461711" y="1645920"/>
            <a:ext cx="585216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10088575" cy="4206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Amiri"/>
                <a:ea typeface="Amiri"/>
                <a:cs typeface="Amiri"/>
              </a:rPr>
              <a:t>للعلماء وطلاب العلم: دقة البحث وإظهار أحكام النوازل للمجتمع</a:t>
            </a:r>
          </a:p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Amiri"/>
                <a:ea typeface="Amiri"/>
                <a:cs typeface="Amiri"/>
              </a:rPr>
              <a:t>للمرأة المسلمة: الحذر من الزينة المحرمة والاكتفاء بالحلال عن علم</a:t>
            </a:r>
          </a:p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Amiri"/>
                <a:ea typeface="Amiri"/>
                <a:cs typeface="Amiri"/>
              </a:rPr>
              <a:t>للمجامع الفقهية: متابعة المستجدات في زينة المرأة وبيان أحكامها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