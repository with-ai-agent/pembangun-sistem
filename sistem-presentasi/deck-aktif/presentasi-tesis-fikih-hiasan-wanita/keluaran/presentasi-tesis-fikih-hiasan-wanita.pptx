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Pembuka. Pembimbing/universitas kosong - jangan dikarang.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Temuan utama hal 6 sebagai paragraf; harakat di-strip sanitizer.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 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Tujuan hal 21.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Manfaat hal 21.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Masalah hal 21.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Metode hal 23 sebagai dashboard 3 kartu rounded (multi-objek).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Prosedur hal 89.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العلة hal 66-67.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Kesimpulan paragraf.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توصيات hal 152.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خاتمة hal 151.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89581"/>
          <a:stretch>
            <a:fillRect/>
          </a:stretch>
        </p:blipFill>
        <p:spPr>
          <a:xfrm>
            <a:off x="10911535" y="0"/>
            <a:ext cx="1280160" cy="6858000"/>
          </a:xfrm>
          <a:prstGeom prst="rect">
            <a:avLst/>
          </a:prstGeom>
        </p:spPr>
      </p:pic>
      <p:sp>
        <p:nvSpPr>
          <p:cNvPr id="3" name="Rectangle 2"/>
          <p:cNvSpPr/>
          <p:nvPr/>
        </p:nvSpPr>
        <p:spPr>
          <a:xfrm>
            <a:off x="108566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1097280" y="1828800"/>
            <a:ext cx="9265615" cy="2377440"/>
          </a:xfrm>
          <a:prstGeom prst="rect">
            <a:avLst/>
          </a:prstGeom>
          <a:noFill/>
        </p:spPr>
        <p:txBody>
          <a:bodyPr wrap="square">
            <a:spAutoFit/>
          </a:bodyPr>
          <a:lstStyle/>
          <a:p>
            <a:pPr algn="r" rtl="1">
              <a:lnSpc>
                <a:spcPct val="120000"/>
              </a:lnSpc>
              <a:spcAft>
                <a:spcPts val="2000"/>
              </a:spcAft>
            </a:pPr>
            <a:r>
              <a:rPr sz="3800" b="1">
                <a:solidFill>
                  <a:srgbClr val="0F3D2E"/>
                </a:solidFill>
                <a:latin typeface="Amiri"/>
                <a:ea typeface="Amiri"/>
                <a:cs typeface="Amiri"/>
              </a:rPr>
              <a:t>أحكام النوازل الفقهية المعاصرة المتعلقة بزينة المرأة في المذاهب الأربعة</a:t>
            </a:r>
          </a:p>
          <a:p>
            <a:pPr algn="r" rtl="1">
              <a:lnSpc>
                <a:spcPct val="115000"/>
              </a:lnSpc>
              <a:spcAft>
                <a:spcPts val="1000"/>
              </a:spcAft>
            </a:pPr>
            <a:r>
              <a:rPr sz="2600" b="0">
                <a:solidFill>
                  <a:srgbClr val="222222"/>
                </a:solidFill>
                <a:latin typeface="Amiri"/>
                <a:ea typeface="Amiri"/>
                <a:cs typeface="Amiri"/>
              </a:rPr>
              <a:t>إعداد: الشيخ علي بلعيدي</a:t>
            </a:r>
          </a:p>
        </p:txBody>
      </p:sp>
      <p:sp>
        <p:nvSpPr>
          <p:cNvPr id="8" name="Rounded Rectangle 7"/>
          <p:cNvSpPr/>
          <p:nvPr/>
        </p:nvSpPr>
        <p:spPr>
          <a:xfrm>
            <a:off x="914400" y="1554480"/>
            <a:ext cx="9448495" cy="3108960"/>
          </a:xfrm>
          <a:prstGeom prst="roundRect">
            <a:avLst>
              <a:gd name="adj" fmla="val 4000"/>
            </a:avLst>
          </a:prstGeom>
          <a:noFill/>
          <a:ln w="2540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٢</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تدور أحكام الزينة المعاصرة حول ثلاث علل: تغيير خلق الله، والتدليس، والضرر</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10088575" cy="4023360"/>
          </a:xfrm>
          <a:prstGeom prst="rect">
            <a:avLst/>
          </a:prstGeom>
          <a:noFill/>
        </p:spPr>
        <p:txBody>
          <a:bodyPr wrap="square" anchor="ctr">
            <a:spAutoFit/>
          </a:bodyPr>
          <a:lstStyle/>
          <a:p>
            <a:pPr algn="r" rtl="1">
              <a:lnSpc>
                <a:spcPct val="140000"/>
              </a:lnSpc>
              <a:spcAft>
                <a:spcPts val="0"/>
              </a:spcAft>
            </a:pPr>
            <a:r>
              <a:rPr sz="2400" b="0">
                <a:solidFill>
                  <a:srgbClr val="222222"/>
                </a:solidFill>
                <a:latin typeface="Amiri"/>
                <a:ea typeface="Amiri"/>
                <a:cs typeface="Amiri"/>
              </a:rPr>
              <a:t>تقاس وسائل الزينة المعاصرة بثلاث علل: تغيير خلق الله، والتدليس، والضرر؛ فمتى تحققت إحداها امتنع الفعل، ومتى انتفت جاز. ومن هنا يعلم حكم النمص والوشم والتشقير والوصل والعدسات، والمنهج وصفي مقارن استقرائي استنباطي.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٣</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لكل وسيلة زينة ضابطها: الامتناع عند قيام علة محرمة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التشقير والحواجب والنمص: تمتنع عند التغيير</a:t>
            </a:r>
          </a:p>
          <a:p>
            <a:pPr algn="r" rtl="1">
              <a:lnSpc>
                <a:spcPct val="115000"/>
              </a:lnSpc>
              <a:spcAft>
                <a:spcPts val="1400"/>
              </a:spcAft>
            </a:pPr>
            <a:r>
              <a:rPr sz="2400" b="0">
                <a:solidFill>
                  <a:srgbClr val="222222"/>
                </a:solidFill>
                <a:latin typeface="Amiri"/>
                <a:ea typeface="Amiri"/>
                <a:cs typeface="Amiri"/>
              </a:rPr>
              <a:t>الوشم: ممنوع لتغيير الخلقة</a:t>
            </a:r>
          </a:p>
          <a:p>
            <a:pPr algn="r" rtl="1">
              <a:lnSpc>
                <a:spcPct val="115000"/>
              </a:lnSpc>
              <a:spcAft>
                <a:spcPts val="1400"/>
              </a:spcAft>
            </a:pPr>
            <a:r>
              <a:rPr sz="2400" b="0">
                <a:solidFill>
                  <a:srgbClr val="222222"/>
                </a:solidFill>
                <a:latin typeface="Amiri"/>
                <a:ea typeface="Amiri"/>
                <a:cs typeface="Amiri"/>
              </a:rPr>
              <a:t>العدسات والأظافر: تقاس بضوابط التغيير والتدليس والضرر</a:t>
            </a:r>
          </a:p>
          <a:p>
            <a:pPr algn="r" rtl="1">
              <a:lnSpc>
                <a:spcPct val="115000"/>
              </a:lnSpc>
              <a:spcAft>
                <a:spcPts val="1400"/>
              </a:spcAft>
            </a:pPr>
            <a:r>
              <a:rPr sz="2400" b="0">
                <a:solidFill>
                  <a:srgbClr val="222222"/>
                </a:solidFill>
                <a:latin typeface="Amiri"/>
                <a:ea typeface="Amiri"/>
                <a:cs typeface="Amiri"/>
              </a:rPr>
              <a:t>الوصل: محرم، ويجوز بغير شعر الآدمي اتفاقا</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٤</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العمليات الجراحية التجميلية تجوز للحاجة الشرعية دون تغيير الخلق</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الجواز مشروط بالحاجة الشرعية كالعلاج وإصلاح العيب</a:t>
            </a:r>
          </a:p>
          <a:p>
            <a:pPr algn="r" rtl="1">
              <a:lnSpc>
                <a:spcPct val="115000"/>
              </a:lnSpc>
              <a:spcAft>
                <a:spcPts val="1400"/>
              </a:spcAft>
            </a:pPr>
            <a:r>
              <a:rPr sz="2400" b="0">
                <a:solidFill>
                  <a:srgbClr val="222222"/>
                </a:solidFill>
                <a:latin typeface="Amiri"/>
                <a:ea typeface="Amiri"/>
                <a:cs typeface="Amiri"/>
              </a:rPr>
              <a:t>يمتنع ما كان لمجرد تغيير خلق الله</a:t>
            </a:r>
          </a:p>
          <a:p>
            <a:pPr algn="r" rtl="1">
              <a:lnSpc>
                <a:spcPct val="115000"/>
              </a:lnSpc>
              <a:spcAft>
                <a:spcPts val="1400"/>
              </a:spcAft>
            </a:pPr>
            <a:r>
              <a:rPr sz="2400" b="0">
                <a:solidFill>
                  <a:srgbClr val="222222"/>
                </a:solidFill>
                <a:latin typeface="Amiri"/>
                <a:ea typeface="Amiri"/>
                <a:cs typeface="Amiri"/>
              </a:rPr>
              <a:t>يراعى انتفاء الضرر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٥</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للزينة أثر في النظر داخل عقد النكاح، وتترتب عليه أحكام وفق المذاهب</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تترتب على الزينة المؤثرة على النظر أحكام في باب النكاح</a:t>
            </a:r>
          </a:p>
          <a:p>
            <a:pPr algn="r" rtl="1">
              <a:lnSpc>
                <a:spcPct val="115000"/>
              </a:lnSpc>
              <a:spcAft>
                <a:spcPts val="1400"/>
              </a:spcAft>
            </a:pPr>
            <a:r>
              <a:rPr sz="2400" b="0">
                <a:solidFill>
                  <a:srgbClr val="222222"/>
                </a:solidFill>
                <a:latin typeface="Amiri"/>
                <a:ea typeface="Amiri"/>
                <a:cs typeface="Amiri"/>
              </a:rPr>
              <a:t>تفصيل المذاهب في أثرها على النظر والخيار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٦</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أربعة أهداف: الأدوات، العمليات، البيع، وأثر الزينة على النكاح</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بيان حكم أدوات التجميل المعاصرة للمرأة في المذاهب الأربعة</a:t>
            </a:r>
          </a:p>
          <a:p>
            <a:pPr algn="r" rtl="1">
              <a:lnSpc>
                <a:spcPct val="115000"/>
              </a:lnSpc>
              <a:spcAft>
                <a:spcPts val="1400"/>
              </a:spcAft>
            </a:pPr>
            <a:r>
              <a:rPr sz="2200" b="0">
                <a:solidFill>
                  <a:srgbClr val="222222"/>
                </a:solidFill>
                <a:latin typeface="Amiri"/>
                <a:ea typeface="Amiri"/>
                <a:cs typeface="Amiri"/>
              </a:rPr>
              <a:t>معرفة حكم عمليات التجميل في المذاهب المعتمدة</a:t>
            </a:r>
          </a:p>
          <a:p>
            <a:pPr algn="r" rtl="1">
              <a:lnSpc>
                <a:spcPct val="115000"/>
              </a:lnSpc>
              <a:spcAft>
                <a:spcPts val="1400"/>
              </a:spcAft>
            </a:pPr>
            <a:r>
              <a:rPr sz="2200" b="0">
                <a:solidFill>
                  <a:srgbClr val="222222"/>
                </a:solidFill>
                <a:latin typeface="Amiri"/>
                <a:ea typeface="Amiri"/>
                <a:cs typeface="Amiri"/>
              </a:rPr>
              <a:t>معرفة حكم بيع أدوات التجميل في المذاهب الأربعة</a:t>
            </a:r>
          </a:p>
          <a:p>
            <a:pPr algn="r" rtl="1">
              <a:lnSpc>
                <a:spcPct val="115000"/>
              </a:lnSpc>
              <a:spcAft>
                <a:spcPts val="1400"/>
              </a:spcAft>
            </a:pPr>
            <a:r>
              <a:rPr sz="2200" b="0">
                <a:solidFill>
                  <a:srgbClr val="222222"/>
                </a:solidFill>
                <a:latin typeface="Amiri"/>
                <a:ea typeface="Amiri"/>
                <a:cs typeface="Amiri"/>
              </a:rPr>
              <a:t>بيان الأثر المترتب على الزينة في عقد النكاح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٧</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الفوائد توازي الأهداف وتعمق إدراك الأحكام والنوازل</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معرفة أحكام الزينة المعاصرة في المذاهب الأربعة</a:t>
            </a:r>
          </a:p>
          <a:p>
            <a:pPr algn="r" rtl="1">
              <a:lnSpc>
                <a:spcPct val="115000"/>
              </a:lnSpc>
              <a:spcAft>
                <a:spcPts val="1400"/>
              </a:spcAft>
            </a:pPr>
            <a:r>
              <a:rPr sz="2200" b="0">
                <a:solidFill>
                  <a:srgbClr val="222222"/>
                </a:solidFill>
                <a:latin typeface="Amiri"/>
                <a:ea typeface="Amiri"/>
                <a:cs typeface="Amiri"/>
              </a:rPr>
              <a:t>بيان أحكام النوازل المتعلقة بزينة المرأة</a:t>
            </a:r>
          </a:p>
          <a:p>
            <a:pPr algn="r" rtl="1">
              <a:lnSpc>
                <a:spcPct val="115000"/>
              </a:lnSpc>
              <a:spcAft>
                <a:spcPts val="1400"/>
              </a:spcAft>
            </a:pPr>
            <a:r>
              <a:rPr sz="2200" b="0">
                <a:solidFill>
                  <a:srgbClr val="222222"/>
                </a:solidFill>
                <a:latin typeface="Amiri"/>
                <a:ea typeface="Amiri"/>
                <a:cs typeface="Amiri"/>
              </a:rPr>
              <a:t>معرفة حكم عمليات التجميل وبيع الأدوات الممنوعة</a:t>
            </a:r>
          </a:p>
          <a:p>
            <a:pPr algn="r" rtl="1">
              <a:lnSpc>
                <a:spcPct val="115000"/>
              </a:lnSpc>
              <a:spcAft>
                <a:spcPts val="1400"/>
              </a:spcAft>
            </a:pPr>
            <a:r>
              <a:rPr sz="2200" b="0">
                <a:solidFill>
                  <a:srgbClr val="222222"/>
                </a:solidFill>
                <a:latin typeface="Amiri"/>
                <a:ea typeface="Amiri"/>
                <a:cs typeface="Amiri"/>
              </a:rPr>
              <a:t>إدراك أثر الزينة على عقد النكاح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٨</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خمس مشكلات استدعت البحث: نوازل، حصر، أزمنة، واردات، تكييف</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200" b="0">
                <a:solidFill>
                  <a:srgbClr val="222222"/>
                </a:solidFill>
                <a:latin typeface="Amiri"/>
                <a:ea typeface="Amiri"/>
                <a:cs typeface="Amiri"/>
              </a:rPr>
              <a:t>نوازل معاصرة لم يفصلها الفقهاء قديما</a:t>
            </a:r>
          </a:p>
          <a:p>
            <a:pPr algn="r" rtl="1">
              <a:lnSpc>
                <a:spcPct val="115000"/>
              </a:lnSpc>
              <a:spcAft>
                <a:spcPts val="1400"/>
              </a:spcAft>
            </a:pPr>
            <a:r>
              <a:rPr sz="2200" b="0">
                <a:solidFill>
                  <a:srgbClr val="222222"/>
                </a:solidFill>
                <a:latin typeface="Amiri"/>
                <a:ea typeface="Amiri"/>
                <a:cs typeface="Amiri"/>
              </a:rPr>
              <a:t>صعوبة حصر وسائل الزينة لاختلاط العادات</a:t>
            </a:r>
          </a:p>
          <a:p>
            <a:pPr algn="r" rtl="1">
              <a:lnSpc>
                <a:spcPct val="115000"/>
              </a:lnSpc>
              <a:spcAft>
                <a:spcPts val="1400"/>
              </a:spcAft>
            </a:pPr>
            <a:r>
              <a:rPr sz="2200" b="0">
                <a:solidFill>
                  <a:srgbClr val="222222"/>
                </a:solidFill>
                <a:latin typeface="Amiri"/>
                <a:ea typeface="Amiri"/>
                <a:cs typeface="Amiri"/>
              </a:rPr>
              <a:t>اختلاف الأزمنة يستدعي نظر القواعد والضوابط</a:t>
            </a:r>
          </a:p>
          <a:p>
            <a:pPr algn="r" rtl="1">
              <a:lnSpc>
                <a:spcPct val="115000"/>
              </a:lnSpc>
              <a:spcAft>
                <a:spcPts val="1400"/>
              </a:spcAft>
            </a:pPr>
            <a:r>
              <a:rPr sz="2200" b="0">
                <a:solidFill>
                  <a:srgbClr val="222222"/>
                </a:solidFill>
                <a:latin typeface="Amiri"/>
                <a:ea typeface="Amiri"/>
                <a:cs typeface="Amiri"/>
              </a:rPr>
              <a:t>ورود أدوات من الغرب دون نظر شرعي</a:t>
            </a:r>
          </a:p>
          <a:p>
            <a:pPr algn="r" rtl="1">
              <a:lnSpc>
                <a:spcPct val="115000"/>
              </a:lnSpc>
              <a:spcAft>
                <a:spcPts val="1400"/>
              </a:spcAft>
            </a:pPr>
            <a:r>
              <a:rPr sz="2200" b="0">
                <a:solidFill>
                  <a:srgbClr val="222222"/>
                </a:solidFill>
                <a:latin typeface="Amiri"/>
                <a:ea typeface="Amiri"/>
                <a:cs typeface="Amiri"/>
              </a:rPr>
              <a:t>اختلاف التكييف الفقهي لوسائل الزينة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٩</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ص٢٣·٨٨</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بحث فقهي مقارن بثلاثة مناهج متكاملة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31556" y="2194560"/>
            <a:ext cx="3179978" cy="3108960"/>
          </a:xfrm>
          <a:prstGeom prst="roundRect">
            <a:avLst>
              <a:gd name="adj" fmla="val 6000"/>
            </a:avLst>
          </a:prstGeom>
          <a:solidFill>
            <a:srgbClr val="FFFFFF"/>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r" rtl="1">
              <a:lnSpc>
                <a:spcPct val="115000"/>
              </a:lnSpc>
              <a:spcAft>
                <a:spcPts val="1000"/>
              </a:spcAft>
            </a:pPr>
            <a:r>
              <a:rPr sz="2400" b="1">
                <a:solidFill>
                  <a:srgbClr val="0F3D2E"/>
                </a:solidFill>
                <a:latin typeface="Amiri"/>
                <a:ea typeface="Amiri"/>
                <a:cs typeface="Amiri"/>
              </a:rPr>
              <a:t>وصفي مقارن</a:t>
            </a:r>
          </a:p>
          <a:p>
            <a:pPr algn="r" rtl="1">
              <a:lnSpc>
                <a:spcPct val="120000"/>
              </a:lnSpc>
              <a:spcAft>
                <a:spcPts val="0"/>
              </a:spcAft>
            </a:pPr>
            <a:r>
              <a:rPr sz="1600" b="0">
                <a:solidFill>
                  <a:srgbClr val="222222"/>
                </a:solidFill>
                <a:latin typeface="Amiri"/>
                <a:ea typeface="Amiri"/>
                <a:cs typeface="Amiri"/>
              </a:rPr>
              <a:t>تتبع أقوال المذاهب من كتبها المعتمدة ومقارنتها</a:t>
            </a:r>
          </a:p>
        </p:txBody>
      </p:sp>
      <p:sp>
        <p:nvSpPr>
          <p:cNvPr id="10" name="Rounded Rectangle 9"/>
          <p:cNvSpPr/>
          <p:nvPr/>
        </p:nvSpPr>
        <p:spPr>
          <a:xfrm>
            <a:off x="4277258" y="2194560"/>
            <a:ext cx="3179978" cy="3108960"/>
          </a:xfrm>
          <a:prstGeom prst="roundRect">
            <a:avLst>
              <a:gd name="adj" fmla="val 6000"/>
            </a:avLst>
          </a:prstGeom>
          <a:solidFill>
            <a:srgbClr val="FFFFFF"/>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r" rtl="1">
              <a:lnSpc>
                <a:spcPct val="115000"/>
              </a:lnSpc>
              <a:spcAft>
                <a:spcPts val="1000"/>
              </a:spcAft>
            </a:pPr>
            <a:r>
              <a:rPr sz="2400" b="1">
                <a:solidFill>
                  <a:srgbClr val="0F3D2E"/>
                </a:solidFill>
                <a:latin typeface="Amiri"/>
                <a:ea typeface="Amiri"/>
                <a:cs typeface="Amiri"/>
              </a:rPr>
              <a:t>استقرائي</a:t>
            </a:r>
          </a:p>
          <a:p>
            <a:pPr algn="r" rtl="1">
              <a:lnSpc>
                <a:spcPct val="120000"/>
              </a:lnSpc>
              <a:spcAft>
                <a:spcPts val="0"/>
              </a:spcAft>
            </a:pPr>
            <a:r>
              <a:rPr sz="1600" b="0">
                <a:solidFill>
                  <a:srgbClr val="222222"/>
                </a:solidFill>
                <a:latin typeface="Amiri"/>
                <a:ea typeface="Amiri"/>
                <a:cs typeface="Amiri"/>
              </a:rPr>
              <a:t>استقراء النوازل والدراسات المعاصرة</a:t>
            </a:r>
          </a:p>
        </p:txBody>
      </p:sp>
      <p:sp>
        <p:nvSpPr>
          <p:cNvPr id="11" name="Rounded Rectangle 10"/>
          <p:cNvSpPr/>
          <p:nvPr/>
        </p:nvSpPr>
        <p:spPr>
          <a:xfrm>
            <a:off x="822959" y="2194560"/>
            <a:ext cx="3179978" cy="3108960"/>
          </a:xfrm>
          <a:prstGeom prst="roundRect">
            <a:avLst>
              <a:gd name="adj" fmla="val 6000"/>
            </a:avLst>
          </a:prstGeom>
          <a:solidFill>
            <a:srgbClr val="FFFFFF"/>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r" rtl="1">
              <a:lnSpc>
                <a:spcPct val="115000"/>
              </a:lnSpc>
              <a:spcAft>
                <a:spcPts val="1000"/>
              </a:spcAft>
            </a:pPr>
            <a:r>
              <a:rPr sz="2400" b="1">
                <a:solidFill>
                  <a:srgbClr val="0F3D2E"/>
                </a:solidFill>
                <a:latin typeface="Amiri"/>
                <a:ea typeface="Amiri"/>
                <a:cs typeface="Amiri"/>
              </a:rPr>
              <a:t>استنباطي</a:t>
            </a:r>
          </a:p>
          <a:p>
            <a:pPr algn="r" rtl="1">
              <a:lnSpc>
                <a:spcPct val="120000"/>
              </a:lnSpc>
              <a:spcAft>
                <a:spcPts val="0"/>
              </a:spcAft>
            </a:pPr>
            <a:r>
              <a:rPr sz="1600" b="0">
                <a:solidFill>
                  <a:srgbClr val="222222"/>
                </a:solidFill>
                <a:latin typeface="Amiri"/>
                <a:ea typeface="Amiri"/>
                <a:cs typeface="Amiri"/>
              </a:rPr>
              <a:t>استنباط الحكم من النصوص والقواعد والضوابط</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١٠</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ص٨٩</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جمع ومعالجة وتحقق: من التتبع إلى التطبيق الموثق</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جمع: تتبع أقوال المذاهب وجمع النوازل ثم الترتيب والمقارنة</a:t>
            </a:r>
          </a:p>
          <a:p>
            <a:pPr algn="r" rtl="1">
              <a:lnSpc>
                <a:spcPct val="115000"/>
              </a:lnSpc>
              <a:spcAft>
                <a:spcPts val="1400"/>
              </a:spcAft>
            </a:pPr>
            <a:r>
              <a:rPr sz="2400" b="0">
                <a:solidFill>
                  <a:srgbClr val="222222"/>
                </a:solidFill>
                <a:latin typeface="Amiri"/>
                <a:ea typeface="Amiri"/>
                <a:cs typeface="Amiri"/>
              </a:rPr>
              <a:t>معالجة: مقارنة الأقوال وذكر الأدلة ثم التطبيق على النوازل</a:t>
            </a:r>
          </a:p>
          <a:p>
            <a:pPr algn="r" rtl="1">
              <a:lnSpc>
                <a:spcPct val="115000"/>
              </a:lnSpc>
              <a:spcAft>
                <a:spcPts val="1400"/>
              </a:spcAft>
            </a:pPr>
            <a:r>
              <a:rPr sz="2400" b="0">
                <a:solidFill>
                  <a:srgbClr val="222222"/>
                </a:solidFill>
                <a:latin typeface="Amiri"/>
                <a:ea typeface="Amiri"/>
                <a:cs typeface="Amiri"/>
              </a:rPr>
              <a:t>تحقق: عرض المعلومة على عدة مصادر حتى يتفق المعنى</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١١</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ص٦٦–٦٧</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اتفقوا على الجواز بغير شعر الآدمي واختلفوا في العلة، والراجح التدليس</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1005840" y="1920240"/>
          <a:ext cx="9082735" cy="3931920"/>
        </p:xfrm>
        <a:graphic>
          <a:graphicData uri="http://schemas.openxmlformats.org/drawingml/2006/table">
            <a:tbl>
              <a:tblPr firstRow="1" bandRow="1">
                <a:tableStyleId>{5C22544A-7EE6-4342-B048-85BDC9FD1C3A}</a:tableStyleId>
              </a:tblPr>
              <a:tblGrid>
                <a:gridCol w="2743200"/>
                <a:gridCol w="6339535"/>
              </a:tblGrid>
              <a:tr h="655320">
                <a:tc>
                  <a:txBody>
                    <a:bodyPr/>
                    <a:lstStyle/>
                    <a:p>
                      <a:pPr algn="r" rtl="1"/>
                      <a:r>
                        <a:rPr sz="2000" b="1">
                          <a:solidFill>
                            <a:srgbClr val="F7F3E9"/>
                          </a:solidFill>
                          <a:latin typeface="Amiri"/>
                          <a:ea typeface="Amiri"/>
                          <a:cs typeface="Amiri"/>
                        </a:rPr>
                        <a:t>المذهب</a:t>
                      </a:r>
                    </a:p>
                  </a:txBody>
                  <a:tcPr>
                    <a:solidFill>
                      <a:srgbClr val="0F3D2E"/>
                    </a:solidFill>
                  </a:tcPr>
                </a:tc>
                <a:tc>
                  <a:txBody>
                    <a:bodyPr/>
                    <a:lstStyle/>
                    <a:p>
                      <a:pPr algn="r" rtl="1"/>
                      <a:r>
                        <a:rPr sz="2000" b="1">
                          <a:solidFill>
                            <a:srgbClr val="F7F3E9"/>
                          </a:solidFill>
                          <a:latin typeface="Amiri"/>
                          <a:ea typeface="Amiri"/>
                          <a:cs typeface="Amiri"/>
                        </a:rPr>
                        <a:t>العلة في تحريم وصل الشعر</a:t>
                      </a:r>
                    </a:p>
                  </a:txBody>
                  <a:tcPr>
                    <a:solidFill>
                      <a:srgbClr val="0F3D2E"/>
                    </a:solidFill>
                  </a:tcPr>
                </a:tc>
              </a:tr>
              <a:tr h="655320">
                <a:tc>
                  <a:txBody>
                    <a:bodyPr/>
                    <a:lstStyle/>
                    <a:p>
                      <a:pPr algn="r" rtl="1"/>
                      <a:r>
                        <a:rPr sz="1800" b="0">
                          <a:latin typeface="Amiri"/>
                          <a:ea typeface="Amiri"/>
                          <a:cs typeface="Amiri"/>
                        </a:rPr>
                        <a:t>الحنفية</a:t>
                      </a:r>
                    </a:p>
                  </a:txBody>
                  <a:tcPr>
                    <a:solidFill>
                      <a:srgbClr val="F7F3E9"/>
                    </a:solidFill>
                  </a:tcPr>
                </a:tc>
                <a:tc>
                  <a:txBody>
                    <a:bodyPr/>
                    <a:lstStyle/>
                    <a:p>
                      <a:pPr algn="r" rtl="1"/>
                      <a:r>
                        <a:rPr sz="1800" b="0">
                          <a:latin typeface="Amiri"/>
                          <a:ea typeface="Amiri"/>
                          <a:cs typeface="Amiri"/>
                        </a:rPr>
                        <a:t>كرامة الإنسان وتحريم الابتذال</a:t>
                      </a:r>
                    </a:p>
                  </a:txBody>
                  <a:tcPr>
                    <a:solidFill>
                      <a:srgbClr val="F7F3E9"/>
                    </a:solidFill>
                  </a:tcPr>
                </a:tc>
              </a:tr>
              <a:tr h="655320">
                <a:tc>
                  <a:txBody>
                    <a:bodyPr/>
                    <a:lstStyle/>
                    <a:p>
                      <a:pPr algn="r" rtl="1"/>
                      <a:r>
                        <a:rPr sz="1800" b="0">
                          <a:latin typeface="Amiri"/>
                          <a:ea typeface="Amiri"/>
                          <a:cs typeface="Amiri"/>
                        </a:rPr>
                        <a:t>المالكية</a:t>
                      </a:r>
                    </a:p>
                  </a:txBody>
                  <a:tcPr>
                    <a:solidFill>
                      <a:srgbClr val="ECE6D6"/>
                    </a:solidFill>
                  </a:tcPr>
                </a:tc>
                <a:tc>
                  <a:txBody>
                    <a:bodyPr/>
                    <a:lstStyle/>
                    <a:p>
                      <a:pPr algn="r" rtl="1"/>
                      <a:r>
                        <a:rPr sz="1800" b="0">
                          <a:latin typeface="Amiri"/>
                          <a:ea typeface="Amiri"/>
                          <a:cs typeface="Amiri"/>
                        </a:rPr>
                        <a:t>مركبة: تغيير خلق الله والتدليس</a:t>
                      </a:r>
                    </a:p>
                  </a:txBody>
                  <a:tcPr>
                    <a:solidFill>
                      <a:srgbClr val="ECE6D6"/>
                    </a:solidFill>
                  </a:tcPr>
                </a:tc>
              </a:tr>
              <a:tr h="655320">
                <a:tc>
                  <a:txBody>
                    <a:bodyPr/>
                    <a:lstStyle/>
                    <a:p>
                      <a:pPr algn="r" rtl="1"/>
                      <a:r>
                        <a:rPr sz="1800" b="0">
                          <a:latin typeface="Amiri"/>
                          <a:ea typeface="Amiri"/>
                          <a:cs typeface="Amiri"/>
                        </a:rPr>
                        <a:t>الشافعية</a:t>
                      </a:r>
                    </a:p>
                  </a:txBody>
                  <a:tcPr>
                    <a:solidFill>
                      <a:srgbClr val="F7F3E9"/>
                    </a:solidFill>
                  </a:tcPr>
                </a:tc>
                <a:tc>
                  <a:txBody>
                    <a:bodyPr/>
                    <a:lstStyle/>
                    <a:p>
                      <a:pPr algn="r" rtl="1"/>
                      <a:r>
                        <a:rPr sz="1800" b="0">
                          <a:latin typeface="Amiri"/>
                          <a:ea typeface="Amiri"/>
                          <a:cs typeface="Amiri"/>
                        </a:rPr>
                        <a:t>مركبة: الكرامة وتحريم استعمال النجس</a:t>
                      </a:r>
                    </a:p>
                  </a:txBody>
                  <a:tcPr>
                    <a:solidFill>
                      <a:srgbClr val="F7F3E9"/>
                    </a:solidFill>
                  </a:tcPr>
                </a:tc>
              </a:tr>
              <a:tr h="655320">
                <a:tc>
                  <a:txBody>
                    <a:bodyPr/>
                    <a:lstStyle/>
                    <a:p>
                      <a:pPr algn="r" rtl="1"/>
                      <a:r>
                        <a:rPr sz="1800" b="0">
                          <a:latin typeface="Amiri"/>
                          <a:ea typeface="Amiri"/>
                          <a:cs typeface="Amiri"/>
                        </a:rPr>
                        <a:t>الحنابلة</a:t>
                      </a:r>
                    </a:p>
                  </a:txBody>
                  <a:tcPr>
                    <a:solidFill>
                      <a:srgbClr val="ECE6D6"/>
                    </a:solidFill>
                  </a:tcPr>
                </a:tc>
                <a:tc>
                  <a:txBody>
                    <a:bodyPr/>
                    <a:lstStyle/>
                    <a:p>
                      <a:pPr algn="r" rtl="1"/>
                      <a:r>
                        <a:rPr sz="1800" b="0">
                          <a:latin typeface="Amiri"/>
                          <a:ea typeface="Amiri"/>
                          <a:cs typeface="Amiri"/>
                        </a:rPr>
                        <a:t>التدليس والغش</a:t>
                      </a:r>
                    </a:p>
                  </a:txBody>
                  <a:tcPr>
                    <a:solidFill>
                      <a:srgbClr val="ECE6D6"/>
                    </a:solidFill>
                  </a:tcPr>
                </a:tc>
              </a:tr>
              <a:tr h="655320">
                <a:tc>
                  <a:txBody>
                    <a:bodyPr/>
                    <a:lstStyle/>
                    <a:p>
                      <a:pPr algn="r" rtl="1"/>
                      <a:r>
                        <a:rPr sz="1800" b="0">
                          <a:latin typeface="Amiri"/>
                          <a:ea typeface="Amiri"/>
                          <a:cs typeface="Amiri"/>
                        </a:rPr>
                        <a:t>الراجح</a:t>
                      </a:r>
                    </a:p>
                  </a:txBody>
                  <a:tcPr>
                    <a:solidFill>
                      <a:srgbClr val="F7F3E9"/>
                    </a:solidFill>
                  </a:tcPr>
                </a:tc>
                <a:tc>
                  <a:txBody>
                    <a:bodyPr/>
                    <a:lstStyle/>
                    <a:p>
                      <a:pPr algn="r" rtl="1"/>
                      <a:r>
                        <a:rPr sz="1800" b="0">
                          <a:latin typeface="Amiri"/>
                          <a:ea typeface="Amiri"/>
                          <a:cs typeface="Amiri"/>
                        </a:rPr>
                        <a:t>الزور والتدليس؛ لحديث المرأة</a:t>
                      </a:r>
                    </a:p>
                  </a:txBody>
                  <a:tcPr>
                    <a:solidFill>
                      <a:srgbClr val="F7F3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١٢</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ص٦</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الخلاصة: التحريم عند العلل الثلاث، والجواز بضوابط، وللزينة أثر في النكاح</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10088575" cy="4023360"/>
          </a:xfrm>
          <a:prstGeom prst="rect">
            <a:avLst/>
          </a:prstGeom>
          <a:noFill/>
        </p:spPr>
        <p:txBody>
          <a:bodyPr wrap="square" anchor="ctr">
            <a:spAutoFit/>
          </a:bodyPr>
          <a:lstStyle/>
          <a:p>
            <a:pPr algn="r" rtl="1">
              <a:lnSpc>
                <a:spcPct val="140000"/>
              </a:lnSpc>
              <a:spcAft>
                <a:spcPts val="0"/>
              </a:spcAft>
            </a:pPr>
            <a:r>
              <a:rPr sz="2400" b="0">
                <a:solidFill>
                  <a:srgbClr val="222222"/>
                </a:solidFill>
                <a:latin typeface="Amiri"/>
                <a:ea typeface="Amiri"/>
                <a:cs typeface="Amiri"/>
              </a:rPr>
              <a:t>خلاصة البحث أن التحريم يدور مع علله الثلاث وجودا وعدما، وأن العمليات تجوز للحاجة والوصل يجوز بغير شعر الآدمي بضوابطهما، وأن للزينة أثرا في النظر تترتب عليه أحكام في عقد النكاح وفق المذاهب.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١٣</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ص١٥٢</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ثلاث وصايا: للعلماء، للمرأة المسلمة، وللمجامع الفقهية</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للعلماء وطلاب العلم: دقة البحث وإظهار أحكام النوازل للمجتمع</a:t>
            </a:r>
          </a:p>
          <a:p>
            <a:pPr algn="r" rtl="1">
              <a:lnSpc>
                <a:spcPct val="115000"/>
              </a:lnSpc>
              <a:spcAft>
                <a:spcPts val="1400"/>
              </a:spcAft>
            </a:pPr>
            <a:r>
              <a:rPr sz="2400" b="0">
                <a:solidFill>
                  <a:srgbClr val="222222"/>
                </a:solidFill>
                <a:latin typeface="Amiri"/>
                <a:ea typeface="Amiri"/>
                <a:cs typeface="Amiri"/>
              </a:rPr>
              <a:t>للمرأة المسلمة: الحذر من الزينة المحرمة والاكتفاء بالحلال عن علم</a:t>
            </a:r>
          </a:p>
          <a:p>
            <a:pPr algn="r" rtl="1">
              <a:lnSpc>
                <a:spcPct val="115000"/>
              </a:lnSpc>
              <a:spcAft>
                <a:spcPts val="1400"/>
              </a:spcAft>
            </a:pPr>
            <a:r>
              <a:rPr sz="2400" b="0">
                <a:solidFill>
                  <a:srgbClr val="222222"/>
                </a:solidFill>
                <a:latin typeface="Amiri"/>
                <a:ea typeface="Amiri"/>
                <a:cs typeface="Amiri"/>
              </a:rPr>
              <a:t>للمجامع الفقهية: متابعة المستجدات في زينة المرأة وبيان أحكامها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pic>
        <p:nvPicPr>
          <p:cNvPr id="2" name="Picture 1" descr="pola-geometris.png"/>
          <p:cNvPicPr>
            <a:picLocks noChangeAspect="1"/>
          </p:cNvPicPr>
          <p:nvPr/>
        </p:nvPicPr>
        <p:blipFill>
          <a:blip r:embed="rId2"/>
          <a:srcRect r="93302"/>
          <a:stretch>
            <a:fillRect/>
          </a:stretch>
        </p:blipFill>
        <p:spPr>
          <a:xfrm>
            <a:off x="11368735" y="0"/>
            <a:ext cx="822960" cy="6858000"/>
          </a:xfrm>
          <a:prstGeom prst="rect">
            <a:avLst/>
          </a:prstGeom>
        </p:spPr>
      </p:pic>
      <p:sp>
        <p:nvSpPr>
          <p:cNvPr id="3" name="Rectangle 2"/>
          <p:cNvSpPr/>
          <p:nvPr/>
        </p:nvSpPr>
        <p:spPr>
          <a:xfrm>
            <a:off x="11313871" y="0"/>
            <a:ext cx="54864"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55080"/>
            <a:ext cx="12191695" cy="502920"/>
          </a:xfrm>
          <a:prstGeom prst="rect">
            <a:avLst/>
          </a:prstGeom>
          <a:solidFill>
            <a:srgbClr val="0F3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0"/>
            <a:ext cx="1828800" cy="411480"/>
          </a:xfrm>
          <a:prstGeom prst="rect">
            <a:avLst/>
          </a:prstGeom>
          <a:noFill/>
        </p:spPr>
        <p:txBody>
          <a:bodyPr wrap="none">
            <a:spAutoFit/>
          </a:bodyPr>
          <a:lstStyle/>
          <a:p>
            <a:pPr algn="l"/>
            <a:r>
              <a:rPr sz="1600" b="1">
                <a:solidFill>
                  <a:srgbClr val="C9A227"/>
                </a:solidFill>
                <a:latin typeface="Amiri"/>
                <a:ea typeface="Amiri"/>
                <a:cs typeface="Amiri"/>
              </a:rPr>
              <a:t>١٤</a:t>
            </a:r>
          </a:p>
        </p:txBody>
      </p:sp>
      <p:sp>
        <p:nvSpPr>
          <p:cNvPr id="6" name="TextBox 5"/>
          <p:cNvSpPr txBox="1"/>
          <p:nvPr/>
        </p:nvSpPr>
        <p:spPr>
          <a:xfrm>
            <a:off x="9082735" y="6400800"/>
            <a:ext cx="2377440" cy="411480"/>
          </a:xfrm>
          <a:prstGeom prst="rect">
            <a:avLst/>
          </a:prstGeom>
          <a:noFill/>
        </p:spPr>
        <p:txBody>
          <a:bodyPr wrap="none">
            <a:spAutoFit/>
          </a:bodyPr>
          <a:lstStyle/>
          <a:p>
            <a:pPr algn="r"/>
            <a:r>
              <a:rPr sz="1400" b="0">
                <a:solidFill>
                  <a:srgbClr val="C9A227"/>
                </a:solidFill>
                <a:latin typeface="Amiri"/>
                <a:ea typeface="Amiri"/>
                <a:cs typeface="Amiri"/>
              </a:rPr>
              <a:t>ص١٥١</a:t>
            </a:r>
          </a:p>
        </p:txBody>
      </p:sp>
      <p:sp>
        <p:nvSpPr>
          <p:cNvPr id="7" name="TextBox 6"/>
          <p:cNvSpPr txBox="1"/>
          <p:nvPr/>
        </p:nvSpPr>
        <p:spPr>
          <a:xfrm>
            <a:off x="640080" y="411480"/>
            <a:ext cx="10180015" cy="1280160"/>
          </a:xfrm>
          <a:prstGeom prst="rect">
            <a:avLst/>
          </a:prstGeom>
          <a:noFill/>
        </p:spPr>
        <p:txBody>
          <a:bodyPr wrap="square">
            <a:spAutoFit/>
          </a:bodyPr>
          <a:lstStyle/>
          <a:p>
            <a:pPr algn="r" rtl="1">
              <a:lnSpc>
                <a:spcPct val="115000"/>
              </a:lnSpc>
              <a:spcAft>
                <a:spcPts val="600"/>
              </a:spcAft>
            </a:pPr>
            <a:r>
              <a:rPr sz="3200" b="1">
                <a:solidFill>
                  <a:srgbClr val="0F3D2E"/>
                </a:solidFill>
                <a:latin typeface="Amiri"/>
                <a:ea typeface="Amiri"/>
                <a:cs typeface="Amiri"/>
              </a:rPr>
              <a:t>الحمد لله؛ جهد بشري يقبل الخطأ، ونسأل الله القبول والنفع</a:t>
            </a:r>
          </a:p>
        </p:txBody>
      </p:sp>
      <p:sp>
        <p:nvSpPr>
          <p:cNvPr id="8" name="Rectangle 7"/>
          <p:cNvSpPr/>
          <p:nvPr/>
        </p:nvSpPr>
        <p:spPr>
          <a:xfrm>
            <a:off x="5461711" y="1645920"/>
            <a:ext cx="585216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28800"/>
            <a:ext cx="10088575" cy="4206240"/>
          </a:xfrm>
          <a:prstGeom prst="rect">
            <a:avLst/>
          </a:prstGeom>
          <a:noFill/>
        </p:spPr>
        <p:txBody>
          <a:bodyPr wrap="square" anchor="ctr">
            <a:spAutoFit/>
          </a:bodyPr>
          <a:lstStyle/>
          <a:p>
            <a:pPr algn="r" rtl="1">
              <a:lnSpc>
                <a:spcPct val="115000"/>
              </a:lnSpc>
              <a:spcAft>
                <a:spcPts val="1400"/>
              </a:spcAft>
            </a:pPr>
            <a:r>
              <a:rPr sz="2400" b="0">
                <a:solidFill>
                  <a:srgbClr val="222222"/>
                </a:solidFill>
                <a:latin typeface="Amiri"/>
                <a:ea typeface="Amiri"/>
                <a:cs typeface="Amiri"/>
              </a:rPr>
              <a:t>الحمد لله على إتمام البحث</a:t>
            </a:r>
          </a:p>
          <a:p>
            <a:pPr algn="r" rtl="1">
              <a:lnSpc>
                <a:spcPct val="115000"/>
              </a:lnSpc>
              <a:spcAft>
                <a:spcPts val="1400"/>
              </a:spcAft>
            </a:pPr>
            <a:r>
              <a:rPr sz="2400" b="0">
                <a:solidFill>
                  <a:srgbClr val="222222"/>
                </a:solidFill>
                <a:latin typeface="Amiri"/>
                <a:ea typeface="Amiri"/>
                <a:cs typeface="Amiri"/>
              </a:rPr>
              <a:t>نسأل الله القبول والنفع به</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