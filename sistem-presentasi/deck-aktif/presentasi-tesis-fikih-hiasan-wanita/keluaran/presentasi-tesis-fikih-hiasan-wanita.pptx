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Pembuka. Pembimbing/universitas kosong - jangan dikarang.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Temuan utama hal 6 disajikan sebagai PARAGRAF ringkas (mode naratif).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 rincian per jenis.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Tujuan hal 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Manfaat hal 21.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 hal 21.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Metode hal 23 + jenis hal 88.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Prosedur hal 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العلة hal 66-67.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Kesimpulan sebagai PARAGRAF; خاتمة hal 151 = doa.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توصيات hal 152.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خاتمة hal 151.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89581"/>
          <a:stretch>
            <a:fillRect/>
          </a:stretch>
        </p:blipFill>
        <p:spPr>
          <a:xfrm>
            <a:off x="10911535" y="0"/>
            <a:ext cx="1280160" cy="6858000"/>
          </a:xfrm>
          <a:prstGeom prst="rect">
            <a:avLst/>
          </a:prstGeom>
        </p:spPr>
      </p:pic>
      <p:sp>
        <p:nvSpPr>
          <p:cNvPr id="3" name="Rectangle 2"/>
          <p:cNvSpPr/>
          <p:nvPr/>
        </p:nvSpPr>
        <p:spPr>
          <a:xfrm>
            <a:off x="108566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1097280" y="1828800"/>
            <a:ext cx="9265615" cy="2377440"/>
          </a:xfrm>
          <a:prstGeom prst="rect">
            <a:avLst/>
          </a:prstGeom>
          <a:noFill/>
        </p:spPr>
        <p:txBody>
          <a:bodyPr wrap="square">
            <a:spAutoFit/>
          </a:bodyPr>
          <a:lstStyle/>
          <a:p>
            <a:pPr algn="r" rtl="1">
              <a:lnSpc>
                <a:spcPct val="120000"/>
              </a:lnSpc>
              <a:spcAft>
                <a:spcPts val="2000"/>
              </a:spcAft>
            </a:pPr>
            <a:r>
              <a:rPr sz="3800" b="1">
                <a:solidFill>
                  <a:srgbClr val="0F3D2E"/>
                </a:solidFill>
                <a:latin typeface="Amiri"/>
                <a:ea typeface="Amiri"/>
                <a:cs typeface="Amiri"/>
              </a:rPr>
              <a:t>أحكام النوازل الفقهية المعاصرة المتعلقة بزينة المرأة في المذاهب الأربعة</a:t>
            </a:r>
          </a:p>
          <a:p>
            <a:pPr algn="r" rtl="1">
              <a:lnSpc>
                <a:spcPct val="115000"/>
              </a:lnSpc>
              <a:spcAft>
                <a:spcPts val="1000"/>
              </a:spcAft>
            </a:pPr>
            <a:r>
              <a:rPr sz="2600" b="0">
                <a:solidFill>
                  <a:srgbClr val="222222"/>
                </a:solidFill>
                <a:latin typeface="Amiri"/>
                <a:ea typeface="Amiri"/>
                <a:cs typeface="Amiri"/>
              </a:rPr>
              <a:t>إعداد: الشيخ علي بلعيدي</a:t>
            </a:r>
          </a:p>
        </p:txBody>
      </p:sp>
      <p:sp>
        <p:nvSpPr>
          <p:cNvPr id="8" name="Rectangle 7"/>
          <p:cNvSpPr/>
          <p:nvPr/>
        </p:nvSpPr>
        <p:spPr>
          <a:xfrm>
            <a:off x="914400" y="1554480"/>
            <a:ext cx="9448495" cy="3108960"/>
          </a:xfrm>
          <a:prstGeom prst="rect">
            <a:avLst/>
          </a:prstGeom>
          <a:noFill/>
          <a:ln w="2540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تدور أحكام الزينة المعاصرة على ثلاث علل: تغيير خلق الله، التدليس، والضرر</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تُوزن وسائل الزينة المعاصرة بثلاث علل: تغيير خلق الله، والتدليس، والضرر؛ فمتى تحققت إحداها امتنع الفعل، ومتى انتفت جاز. ومن هنا يُفهم حكم النمص والوشم والتشقير والوصل والعدسات، ويبقى المنهج وصفيًا مقارنًا استقرائيًا استنباطيًا.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لكل وسيلة زينة ضابطها: الامتناع عند قيام علة محرِّمة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التشقير والحواجب والنمص: تمتنع عند التغيير</a:t>
            </a:r>
          </a:p>
          <a:p>
            <a:pPr algn="r" rtl="1">
              <a:lnSpc>
                <a:spcPct val="115000"/>
              </a:lnSpc>
              <a:spcAft>
                <a:spcPts val="1400"/>
              </a:spcAft>
            </a:pPr>
            <a:r>
              <a:rPr sz="2400" b="0">
                <a:solidFill>
                  <a:srgbClr val="222222"/>
                </a:solidFill>
                <a:latin typeface="Amiri"/>
                <a:ea typeface="Amiri"/>
                <a:cs typeface="Amiri"/>
              </a:rPr>
              <a:t>الوشم: ممنوع لتغيير الخلقة</a:t>
            </a:r>
          </a:p>
          <a:p>
            <a:pPr algn="r" rtl="1">
              <a:lnSpc>
                <a:spcPct val="115000"/>
              </a:lnSpc>
              <a:spcAft>
                <a:spcPts val="1400"/>
              </a:spcAft>
            </a:pPr>
            <a:r>
              <a:rPr sz="2400" b="0">
                <a:solidFill>
                  <a:srgbClr val="222222"/>
                </a:solidFill>
                <a:latin typeface="Amiri"/>
                <a:ea typeface="Amiri"/>
                <a:cs typeface="Amiri"/>
              </a:rPr>
              <a:t>العدسات والأظافر: تُوزن بضوابط التغيير والتدليس والضرر</a:t>
            </a:r>
          </a:p>
          <a:p>
            <a:pPr algn="r" rtl="1">
              <a:lnSpc>
                <a:spcPct val="115000"/>
              </a:lnSpc>
              <a:spcAft>
                <a:spcPts val="1400"/>
              </a:spcAft>
            </a:pPr>
            <a:r>
              <a:rPr sz="2400" b="0">
                <a:solidFill>
                  <a:srgbClr val="222222"/>
                </a:solidFill>
                <a:latin typeface="Amiri"/>
                <a:ea typeface="Amiri"/>
                <a:cs typeface="Amiri"/>
              </a:rPr>
              <a:t>الوصل: محرم، ويجوز بغير شعر الآدمي اتفاقًا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العمليات الجراحية التجميلية تجوز للحاجة الشرعية دون تغيير الخلق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الجواز مشروط بالحاجة الشرعية كالعلاج وإصلاح العيب</a:t>
            </a:r>
          </a:p>
          <a:p>
            <a:pPr algn="r" rtl="1">
              <a:lnSpc>
                <a:spcPct val="115000"/>
              </a:lnSpc>
              <a:spcAft>
                <a:spcPts val="1400"/>
              </a:spcAft>
            </a:pPr>
            <a:r>
              <a:rPr sz="2400" b="0">
                <a:solidFill>
                  <a:srgbClr val="222222"/>
                </a:solidFill>
                <a:latin typeface="Amiri"/>
                <a:ea typeface="Amiri"/>
                <a:cs typeface="Amiri"/>
              </a:rPr>
              <a:t>يمتنع ما كان لمجرد تغيير خلق الله</a:t>
            </a:r>
          </a:p>
          <a:p>
            <a:pPr algn="r" rtl="1">
              <a:lnSpc>
                <a:spcPct val="115000"/>
              </a:lnSpc>
              <a:spcAft>
                <a:spcPts val="1400"/>
              </a:spcAft>
            </a:pPr>
            <a:r>
              <a:rPr sz="2400" b="0">
                <a:solidFill>
                  <a:srgbClr val="222222"/>
                </a:solidFill>
                <a:latin typeface="Amiri"/>
                <a:ea typeface="Amiri"/>
                <a:cs typeface="Amiri"/>
              </a:rPr>
              <a:t>يُراعى انتفاء الضرر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٥</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للزينة أثر في النظر داخل عقد النكاح، وتُرتَّب أحكامها وفق المذاهب</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الزينة المؤثرة على النظر تُرتَّب أحكامها في باب النكاح</a:t>
            </a:r>
          </a:p>
          <a:p>
            <a:pPr algn="r" rtl="1">
              <a:lnSpc>
                <a:spcPct val="115000"/>
              </a:lnSpc>
              <a:spcAft>
                <a:spcPts val="1400"/>
              </a:spcAft>
            </a:pPr>
            <a:r>
              <a:rPr sz="2400" b="0">
                <a:solidFill>
                  <a:srgbClr val="222222"/>
                </a:solidFill>
                <a:latin typeface="Amiri"/>
                <a:ea typeface="Amiri"/>
                <a:cs typeface="Amiri"/>
              </a:rPr>
              <a:t>تفصيل المذاهب في أثرها على النظر والخيار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٦</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أربعة أهداف: الأدوات، العمليات، البيع، وأثر الزينة على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بيان حكم أدوات التجميل المعاصرة للمرأة في المذاهب الأربعة</a:t>
            </a:r>
          </a:p>
          <a:p>
            <a:pPr algn="r" rtl="1">
              <a:lnSpc>
                <a:spcPct val="115000"/>
              </a:lnSpc>
              <a:spcAft>
                <a:spcPts val="1400"/>
              </a:spcAft>
            </a:pPr>
            <a:r>
              <a:rPr sz="2200" b="0">
                <a:solidFill>
                  <a:srgbClr val="222222"/>
                </a:solidFill>
                <a:latin typeface="Amiri"/>
                <a:ea typeface="Amiri"/>
                <a:cs typeface="Amiri"/>
              </a:rPr>
              <a:t>معرفة حكم عمليات التجميل في المذاهب المعتمدة</a:t>
            </a:r>
          </a:p>
          <a:p>
            <a:pPr algn="r" rtl="1">
              <a:lnSpc>
                <a:spcPct val="115000"/>
              </a:lnSpc>
              <a:spcAft>
                <a:spcPts val="1400"/>
              </a:spcAft>
            </a:pPr>
            <a:r>
              <a:rPr sz="2200" b="0">
                <a:solidFill>
                  <a:srgbClr val="222222"/>
                </a:solidFill>
                <a:latin typeface="Amiri"/>
                <a:ea typeface="Amiri"/>
                <a:cs typeface="Amiri"/>
              </a:rPr>
              <a:t>معرفة حكم بيع أدوات التجميل في المذاهب الأربعة</a:t>
            </a:r>
          </a:p>
          <a:p>
            <a:pPr algn="r" rtl="1">
              <a:lnSpc>
                <a:spcPct val="115000"/>
              </a:lnSpc>
              <a:spcAft>
                <a:spcPts val="1400"/>
              </a:spcAft>
            </a:pPr>
            <a:r>
              <a:rPr sz="2200" b="0">
                <a:solidFill>
                  <a:srgbClr val="222222"/>
                </a:solidFill>
                <a:latin typeface="Amiri"/>
                <a:ea typeface="Amiri"/>
                <a:cs typeface="Amiri"/>
              </a:rPr>
              <a:t>بيان الأثر المترتب على الزينة في عقد النكاح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٧</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الفوائد توازي الأهداف وتعمّق إدراك الأحكام والنوازل</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معرفة أحكام الزينة المعاصرة في المذاهب الأربعة</a:t>
            </a:r>
          </a:p>
          <a:p>
            <a:pPr algn="r" rtl="1">
              <a:lnSpc>
                <a:spcPct val="115000"/>
              </a:lnSpc>
              <a:spcAft>
                <a:spcPts val="1400"/>
              </a:spcAft>
            </a:pPr>
            <a:r>
              <a:rPr sz="2200" b="0">
                <a:solidFill>
                  <a:srgbClr val="222222"/>
                </a:solidFill>
                <a:latin typeface="Amiri"/>
                <a:ea typeface="Amiri"/>
                <a:cs typeface="Amiri"/>
              </a:rPr>
              <a:t>بيان أحكام النوازل المتعلقة بزينة المرأة</a:t>
            </a:r>
          </a:p>
          <a:p>
            <a:pPr algn="r" rtl="1">
              <a:lnSpc>
                <a:spcPct val="115000"/>
              </a:lnSpc>
              <a:spcAft>
                <a:spcPts val="1400"/>
              </a:spcAft>
            </a:pPr>
            <a:r>
              <a:rPr sz="2200" b="0">
                <a:solidFill>
                  <a:srgbClr val="222222"/>
                </a:solidFill>
                <a:latin typeface="Amiri"/>
                <a:ea typeface="Amiri"/>
                <a:cs typeface="Amiri"/>
              </a:rPr>
              <a:t>معرفة حكم عمليات التجميل وبيع الأدوات الممنوعة</a:t>
            </a:r>
          </a:p>
          <a:p>
            <a:pPr algn="r" rtl="1">
              <a:lnSpc>
                <a:spcPct val="115000"/>
              </a:lnSpc>
              <a:spcAft>
                <a:spcPts val="1400"/>
              </a:spcAft>
            </a:pPr>
            <a:r>
              <a:rPr sz="2200" b="0">
                <a:solidFill>
                  <a:srgbClr val="222222"/>
                </a:solidFill>
                <a:latin typeface="Amiri"/>
                <a:ea typeface="Amiri"/>
                <a:cs typeface="Amiri"/>
              </a:rPr>
              <a:t>إدراك أثر الزينة على عقد النكاح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٨</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خمس مشكلات استدعت البحث: نوازل، حصر، أزمنة، واردات، تكييف</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نوازل معاصرة لم يفصّلها الفقهاء قديمًا</a:t>
            </a:r>
          </a:p>
          <a:p>
            <a:pPr algn="r" rtl="1">
              <a:lnSpc>
                <a:spcPct val="115000"/>
              </a:lnSpc>
              <a:spcAft>
                <a:spcPts val="1400"/>
              </a:spcAft>
            </a:pPr>
            <a:r>
              <a:rPr sz="2200" b="0">
                <a:solidFill>
                  <a:srgbClr val="222222"/>
                </a:solidFill>
                <a:latin typeface="Amiri"/>
                <a:ea typeface="Amiri"/>
                <a:cs typeface="Amiri"/>
              </a:rPr>
              <a:t>صعوبة حصر وسائل الزينة لاختلاط العادات</a:t>
            </a:r>
          </a:p>
          <a:p>
            <a:pPr algn="r" rtl="1">
              <a:lnSpc>
                <a:spcPct val="115000"/>
              </a:lnSpc>
              <a:spcAft>
                <a:spcPts val="1400"/>
              </a:spcAft>
            </a:pPr>
            <a:r>
              <a:rPr sz="2200" b="0">
                <a:solidFill>
                  <a:srgbClr val="222222"/>
                </a:solidFill>
                <a:latin typeface="Amiri"/>
                <a:ea typeface="Amiri"/>
                <a:cs typeface="Amiri"/>
              </a:rPr>
              <a:t>اختلاف الأزمنة يستدعي نظر القواعد والضوابط</a:t>
            </a:r>
          </a:p>
          <a:p>
            <a:pPr algn="r" rtl="1">
              <a:lnSpc>
                <a:spcPct val="115000"/>
              </a:lnSpc>
              <a:spcAft>
                <a:spcPts val="1400"/>
              </a:spcAft>
            </a:pPr>
            <a:r>
              <a:rPr sz="2200" b="0">
                <a:solidFill>
                  <a:srgbClr val="222222"/>
                </a:solidFill>
                <a:latin typeface="Amiri"/>
                <a:ea typeface="Amiri"/>
                <a:cs typeface="Amiri"/>
              </a:rPr>
              <a:t>ورود أدوات من الغرب دون نظر شرعي</a:t>
            </a:r>
          </a:p>
          <a:p>
            <a:pPr algn="r" rtl="1">
              <a:lnSpc>
                <a:spcPct val="115000"/>
              </a:lnSpc>
              <a:spcAft>
                <a:spcPts val="1400"/>
              </a:spcAft>
            </a:pPr>
            <a:r>
              <a:rPr sz="2200" b="0">
                <a:solidFill>
                  <a:srgbClr val="222222"/>
                </a:solidFill>
                <a:latin typeface="Amiri"/>
                <a:ea typeface="Amiri"/>
                <a:cs typeface="Amiri"/>
              </a:rPr>
              <a:t>اختلاف التكييف الفقهي لوسائل الزينة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٩</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ص٢٣·٨٨</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بحث فقهي مقارن بثلاثة مناهج متكاملة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وصفي مقارن: تتبّع أقوال المذاهب من كتبها المعتمدة ومقارنتها</a:t>
            </a:r>
          </a:p>
          <a:p>
            <a:pPr algn="r" rtl="1">
              <a:lnSpc>
                <a:spcPct val="115000"/>
              </a:lnSpc>
              <a:spcAft>
                <a:spcPts val="1400"/>
              </a:spcAft>
            </a:pPr>
            <a:r>
              <a:rPr sz="2400" b="0">
                <a:solidFill>
                  <a:srgbClr val="222222"/>
                </a:solidFill>
                <a:latin typeface="Amiri"/>
                <a:ea typeface="Amiri"/>
                <a:cs typeface="Amiri"/>
              </a:rPr>
              <a:t>استقرائي: استقراء النوازل والدراسات المعاصرة</a:t>
            </a:r>
          </a:p>
          <a:p>
            <a:pPr algn="r" rtl="1">
              <a:lnSpc>
                <a:spcPct val="115000"/>
              </a:lnSpc>
              <a:spcAft>
                <a:spcPts val="1400"/>
              </a:spcAft>
            </a:pPr>
            <a:r>
              <a:rPr sz="2400" b="0">
                <a:solidFill>
                  <a:srgbClr val="222222"/>
                </a:solidFill>
                <a:latin typeface="Amiri"/>
                <a:ea typeface="Amiri"/>
                <a:cs typeface="Amiri"/>
              </a:rPr>
              <a:t>استنباطي: استنباط الحكم من النصوص والقواعد والضوابط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١٠</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ص٨٩</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جمعٌ ومعالجةٌ وتحقق: من التتبّع إلى التطبيق الموثّق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جمع: تتبّع أقوال المذاهب وجمع النوازل ثم الترتيب والمقارنة</a:t>
            </a:r>
          </a:p>
          <a:p>
            <a:pPr algn="r" rtl="1">
              <a:lnSpc>
                <a:spcPct val="115000"/>
              </a:lnSpc>
              <a:spcAft>
                <a:spcPts val="1400"/>
              </a:spcAft>
            </a:pPr>
            <a:r>
              <a:rPr sz="2400" b="0">
                <a:solidFill>
                  <a:srgbClr val="222222"/>
                </a:solidFill>
                <a:latin typeface="Amiri"/>
                <a:ea typeface="Amiri"/>
                <a:cs typeface="Amiri"/>
              </a:rPr>
              <a:t>معالجة: مقارنة الأقوال وذكر الأدلة ثم التطبيق على النوازل</a:t>
            </a:r>
          </a:p>
          <a:p>
            <a:pPr algn="r" rtl="1">
              <a:lnSpc>
                <a:spcPct val="115000"/>
              </a:lnSpc>
              <a:spcAft>
                <a:spcPts val="1400"/>
              </a:spcAft>
            </a:pPr>
            <a:r>
              <a:rPr sz="2400" b="0">
                <a:solidFill>
                  <a:srgbClr val="222222"/>
                </a:solidFill>
                <a:latin typeface="Amiri"/>
                <a:ea typeface="Amiri"/>
                <a:cs typeface="Amiri"/>
              </a:rPr>
              <a:t>تحقق: عرض المعلومة على عدة مصادر حتى يتفق المعنى</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ص٦٦–٦٧</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اتفقوا على الجواز بغير شعر الآدمي واختلفوا في العلة، والراجح التدليس</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1005840" y="1920240"/>
          <a:ext cx="9082735" cy="3931920"/>
        </p:xfrm>
        <a:graphic>
          <a:graphicData uri="http://schemas.openxmlformats.org/drawingml/2006/table">
            <a:tbl>
              <a:tblPr firstRow="1" bandRow="1">
                <a:tableStyleId>{5C22544A-7EE6-4342-B048-85BDC9FD1C3A}</a:tableStyleId>
              </a:tblPr>
              <a:tblGrid>
                <a:gridCol w="2743200"/>
                <a:gridCol w="6339535"/>
              </a:tblGrid>
              <a:tr h="655320">
                <a:tc>
                  <a:txBody>
                    <a:bodyPr/>
                    <a:lstStyle/>
                    <a:p>
                      <a:pPr algn="r" rtl="1"/>
                      <a:r>
                        <a:rPr sz="2000" b="1">
                          <a:solidFill>
                            <a:srgbClr val="F7F3E9"/>
                          </a:solidFill>
                          <a:latin typeface="Amiri"/>
                          <a:ea typeface="Amiri"/>
                          <a:cs typeface="Amiri"/>
                        </a:rPr>
                        <a:t>المذهب</a:t>
                      </a:r>
                    </a:p>
                  </a:txBody>
                  <a:tcPr>
                    <a:solidFill>
                      <a:srgbClr val="0F3D2E"/>
                    </a:solidFill>
                  </a:tcPr>
                </a:tc>
                <a:tc>
                  <a:txBody>
                    <a:bodyPr/>
                    <a:lstStyle/>
                    <a:p>
                      <a:pPr algn="r" rtl="1"/>
                      <a:r>
                        <a:rPr sz="2000" b="1">
                          <a:solidFill>
                            <a:srgbClr val="F7F3E9"/>
                          </a:solidFill>
                          <a:latin typeface="Amiri"/>
                          <a:ea typeface="Amiri"/>
                          <a:cs typeface="Amiri"/>
                        </a:rPr>
                        <a:t>العلة في تحريم وصل الشعر</a:t>
                      </a:r>
                    </a:p>
                  </a:txBody>
                  <a:tcPr>
                    <a:solidFill>
                      <a:srgbClr val="0F3D2E"/>
                    </a:solidFill>
                  </a:tcPr>
                </a:tc>
              </a:tr>
              <a:tr h="655320">
                <a:tc>
                  <a:txBody>
                    <a:bodyPr/>
                    <a:lstStyle/>
                    <a:p>
                      <a:pPr algn="r" rtl="1"/>
                      <a:r>
                        <a:rPr sz="1800" b="0">
                          <a:latin typeface="Amiri"/>
                          <a:ea typeface="Amiri"/>
                          <a:cs typeface="Amiri"/>
                        </a:rPr>
                        <a:t>الحنفية</a:t>
                      </a:r>
                    </a:p>
                  </a:txBody>
                  <a:tcPr>
                    <a:solidFill>
                      <a:srgbClr val="F7F3E9"/>
                    </a:solidFill>
                  </a:tcPr>
                </a:tc>
                <a:tc>
                  <a:txBody>
                    <a:bodyPr/>
                    <a:lstStyle/>
                    <a:p>
                      <a:pPr algn="r" rtl="1"/>
                      <a:r>
                        <a:rPr sz="1800" b="0">
                          <a:latin typeface="Amiri"/>
                          <a:ea typeface="Amiri"/>
                          <a:cs typeface="Amiri"/>
                        </a:rPr>
                        <a:t>كرامة الإنسان وتحريم الابتذال</a:t>
                      </a:r>
                    </a:p>
                  </a:txBody>
                  <a:tcPr>
                    <a:solidFill>
                      <a:srgbClr val="F7F3E9"/>
                    </a:solidFill>
                  </a:tcPr>
                </a:tc>
              </a:tr>
              <a:tr h="655320">
                <a:tc>
                  <a:txBody>
                    <a:bodyPr/>
                    <a:lstStyle/>
                    <a:p>
                      <a:pPr algn="r" rtl="1"/>
                      <a:r>
                        <a:rPr sz="1800" b="0">
                          <a:latin typeface="Amiri"/>
                          <a:ea typeface="Amiri"/>
                          <a:cs typeface="Amiri"/>
                        </a:rPr>
                        <a:t>المالكية</a:t>
                      </a:r>
                    </a:p>
                  </a:txBody>
                  <a:tcPr>
                    <a:solidFill>
                      <a:srgbClr val="ECE6D6"/>
                    </a:solidFill>
                  </a:tcPr>
                </a:tc>
                <a:tc>
                  <a:txBody>
                    <a:bodyPr/>
                    <a:lstStyle/>
                    <a:p>
                      <a:pPr algn="r" rtl="1"/>
                      <a:r>
                        <a:rPr sz="1800" b="0">
                          <a:latin typeface="Amiri"/>
                          <a:ea typeface="Amiri"/>
                          <a:cs typeface="Amiri"/>
                        </a:rPr>
                        <a:t>مركّبة: تغيير خلق الله والتدليس</a:t>
                      </a:r>
                    </a:p>
                  </a:txBody>
                  <a:tcPr>
                    <a:solidFill>
                      <a:srgbClr val="ECE6D6"/>
                    </a:solidFill>
                  </a:tcPr>
                </a:tc>
              </a:tr>
              <a:tr h="655320">
                <a:tc>
                  <a:txBody>
                    <a:bodyPr/>
                    <a:lstStyle/>
                    <a:p>
                      <a:pPr algn="r" rtl="1"/>
                      <a:r>
                        <a:rPr sz="1800" b="0">
                          <a:latin typeface="Amiri"/>
                          <a:ea typeface="Amiri"/>
                          <a:cs typeface="Amiri"/>
                        </a:rPr>
                        <a:t>الشافعية</a:t>
                      </a:r>
                    </a:p>
                  </a:txBody>
                  <a:tcPr>
                    <a:solidFill>
                      <a:srgbClr val="F7F3E9"/>
                    </a:solidFill>
                  </a:tcPr>
                </a:tc>
                <a:tc>
                  <a:txBody>
                    <a:bodyPr/>
                    <a:lstStyle/>
                    <a:p>
                      <a:pPr algn="r" rtl="1"/>
                      <a:r>
                        <a:rPr sz="1800" b="0">
                          <a:latin typeface="Amiri"/>
                          <a:ea typeface="Amiri"/>
                          <a:cs typeface="Amiri"/>
                        </a:rPr>
                        <a:t>مركّبة: الكرامة وتحريم استعمال النجس</a:t>
                      </a:r>
                    </a:p>
                  </a:txBody>
                  <a:tcPr>
                    <a:solidFill>
                      <a:srgbClr val="F7F3E9"/>
                    </a:solidFill>
                  </a:tcPr>
                </a:tc>
              </a:tr>
              <a:tr h="655320">
                <a:tc>
                  <a:txBody>
                    <a:bodyPr/>
                    <a:lstStyle/>
                    <a:p>
                      <a:pPr algn="r" rtl="1"/>
                      <a:r>
                        <a:rPr sz="1800" b="0">
                          <a:latin typeface="Amiri"/>
                          <a:ea typeface="Amiri"/>
                          <a:cs typeface="Amiri"/>
                        </a:rPr>
                        <a:t>الحنابلة</a:t>
                      </a:r>
                    </a:p>
                  </a:txBody>
                  <a:tcPr>
                    <a:solidFill>
                      <a:srgbClr val="ECE6D6"/>
                    </a:solidFill>
                  </a:tcPr>
                </a:tc>
                <a:tc>
                  <a:txBody>
                    <a:bodyPr/>
                    <a:lstStyle/>
                    <a:p>
                      <a:pPr algn="r" rtl="1"/>
                      <a:r>
                        <a:rPr sz="1800" b="0">
                          <a:latin typeface="Amiri"/>
                          <a:ea typeface="Amiri"/>
                          <a:cs typeface="Amiri"/>
                        </a:rPr>
                        <a:t>التدليس والغش</a:t>
                      </a:r>
                    </a:p>
                  </a:txBody>
                  <a:tcPr>
                    <a:solidFill>
                      <a:srgbClr val="ECE6D6"/>
                    </a:solidFill>
                  </a:tcPr>
                </a:tc>
              </a:tr>
              <a:tr h="655320">
                <a:tc>
                  <a:txBody>
                    <a:bodyPr/>
                    <a:lstStyle/>
                    <a:p>
                      <a:pPr algn="r" rtl="1"/>
                      <a:r>
                        <a:rPr sz="1800" b="0">
                          <a:latin typeface="Amiri"/>
                          <a:ea typeface="Amiri"/>
                          <a:cs typeface="Amiri"/>
                        </a:rPr>
                        <a:t>الراجح</a:t>
                      </a:r>
                    </a:p>
                  </a:txBody>
                  <a:tcPr>
                    <a:solidFill>
                      <a:srgbClr val="F7F3E9"/>
                    </a:solidFill>
                  </a:tcPr>
                </a:tc>
                <a:tc>
                  <a:txBody>
                    <a:bodyPr/>
                    <a:lstStyle/>
                    <a:p>
                      <a:pPr algn="r" rtl="1"/>
                      <a:r>
                        <a:rPr sz="1800" b="0">
                          <a:latin typeface="Amiri"/>
                          <a:ea typeface="Amiri"/>
                          <a:cs typeface="Amiri"/>
                        </a:rPr>
                        <a:t>الزور والتدليس؛ لحديث المرأة</a:t>
                      </a:r>
                    </a:p>
                  </a:txBody>
                  <a:tcPr>
                    <a:solidFill>
                      <a:srgbClr val="F7F3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الخلاصة: التحريم عند العلل الثلاث، والجواز بضوابط، وللزينة أثر في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خلاصة البحث أن التحريم يدور مع علله الثلاث وجودًا وعدمًا، وأن العمليات تجوز للحاجة والوصل يجوز بغير شعر الآدمي بضوابطهما، وأن للزينة أثرًا يُرتَّب على النظر في عقد النكاح وفق المذاهب.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ص١٥٢</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ثلاث وصايا: للعلماء، للمرأة المسلمة، وللمجامع الفقهية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للعلماء وطلاب العلم: دقة البحث وإظهار أحكام النوازل للمجتمع</a:t>
            </a:r>
          </a:p>
          <a:p>
            <a:pPr algn="r" rtl="1">
              <a:lnSpc>
                <a:spcPct val="115000"/>
              </a:lnSpc>
              <a:spcAft>
                <a:spcPts val="1400"/>
              </a:spcAft>
            </a:pPr>
            <a:r>
              <a:rPr sz="2400" b="0">
                <a:solidFill>
                  <a:srgbClr val="222222"/>
                </a:solidFill>
                <a:latin typeface="Amiri"/>
                <a:ea typeface="Amiri"/>
                <a:cs typeface="Amiri"/>
              </a:rPr>
              <a:t>للمرأة المسلمة: الحذر من الزينة المحرمة والاكتفاء بالحلال عن علم</a:t>
            </a:r>
          </a:p>
          <a:p>
            <a:pPr algn="r" rtl="1">
              <a:lnSpc>
                <a:spcPct val="115000"/>
              </a:lnSpc>
              <a:spcAft>
                <a:spcPts val="1400"/>
              </a:spcAft>
            </a:pPr>
            <a:r>
              <a:rPr sz="2400" b="0">
                <a:solidFill>
                  <a:srgbClr val="222222"/>
                </a:solidFill>
                <a:latin typeface="Amiri"/>
                <a:ea typeface="Amiri"/>
                <a:cs typeface="Amiri"/>
              </a:rPr>
              <a:t>للمجامع الفقهية: متابعة المستجدات في زينة المرأة وبيان أحكامها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الحمد لله؛ جهد بشري يقبل الخطأ، وسُئل الله القبول والنفع</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الحمد لله على إتمام البحث</a:t>
            </a:r>
          </a:p>
          <a:p>
            <a:pPr algn="r" rtl="1">
              <a:lnSpc>
                <a:spcPct val="115000"/>
              </a:lnSpc>
              <a:spcAft>
                <a:spcPts val="1400"/>
              </a:spcAft>
            </a:pPr>
            <a:r>
              <a:rPr sz="2400" b="0">
                <a:solidFill>
                  <a:srgbClr val="222222"/>
                </a:solidFill>
                <a:latin typeface="Amiri"/>
                <a:ea typeface="Amiri"/>
                <a:cs typeface="Amiri"/>
              </a:rPr>
              <a:t>سؤال الله القبول والنفع به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